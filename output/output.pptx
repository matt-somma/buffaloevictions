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8288000" cy="10287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70" d="100"/>
          <a:sy n="70" d="100"/>
        </p:scale>
        <p:origin x="77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background">
            <a:extLst>
              <a:ext uri="{FF2B5EF4-FFF2-40B4-BE49-F238E27FC236}">
                <a16:creationId xmlns:a16="http://schemas.microsoft.com/office/drawing/2014/main" id="{7571C62C-E74B-4C83-A5DA-37C6A45C7DEA}"/>
              </a:ext>
            </a:extLst>
          </p:cNvPr>
          <p:cNvSpPr>
            <a:spLocks noGrp="1"/>
          </p:cNvSpPr>
          <p:nvPr/>
        </p:nvSpPr>
        <p:spPr>
          <a:xfrm>
            <a:off x="0" y="0"/>
            <a:ext cx="18288000" cy="10287000"/>
          </a:xfrm>
          <a:prstGeom prst="rect">
            <a:avLst/>
          </a:prstGeom>
          <a:solidFill>
            <a:srgbClr val="F6F3EE"/>
          </a:solidFill>
        </p:spPr>
        <p:txBody>
          <a:bodyPr/>
          <a:lstStyle/>
          <a:p>
            <a:endParaRPr lang="en-US"/>
          </a:p>
        </p:txBody>
      </p:sp>
      <p:sp>
        <p:nvSpPr>
          <p:cNvPr id="2" name="cover-kicker">
            <a:extLst>
              <a:ext uri="{FF2B5EF4-FFF2-40B4-BE49-F238E27FC236}">
                <a16:creationId xmlns:a16="http://schemas.microsoft.com/office/drawing/2014/main" id="{C10CE25E-AA7A-4A18-A6CF-575456F956C7}"/>
              </a:ext>
            </a:extLst>
          </p:cNvPr>
          <p:cNvSpPr>
            <a:spLocks noGrp="1"/>
          </p:cNvSpPr>
          <p:nvPr/>
        </p:nvSpPr>
        <p:spPr>
          <a:xfrm>
            <a:off x="800100" y="2495550"/>
            <a:ext cx="4114800" cy="419100"/>
          </a:xfrm>
          <a:prstGeom prst="rect">
            <a:avLst/>
          </a:prstGeom>
        </p:spPr>
        <p:txBody>
          <a:bodyPr lIns="0" tIns="0" rIns="0" bIns="0"/>
          <a:lstStyle/>
          <a:p>
            <a:pPr>
              <a:defRPr sz="1350" b="1">
                <a:solidFill>
                  <a:srgbClr val="2A7F8C"/>
                </a:solidFill>
              </a:defRPr>
            </a:pPr>
            <a:r>
              <a:rPr sz="1350" b="1">
                <a:solidFill>
                  <a:srgbClr val="2A7F8C"/>
                </a:solidFill>
              </a:rPr>
              <a:t>BUFFALO HOUSING INSTABILITY INTELLIGENCE PLATFORM</a:t>
            </a:r>
          </a:p>
        </p:txBody>
      </p:sp>
      <p:sp>
        <p:nvSpPr>
          <p:cNvPr id="3" name="cover-title">
            <a:extLst>
              <a:ext uri="{FF2B5EF4-FFF2-40B4-BE49-F238E27FC236}">
                <a16:creationId xmlns:a16="http://schemas.microsoft.com/office/drawing/2014/main" id="{608253E9-77C3-453A-A5DF-027DD3A75EFD}"/>
              </a:ext>
            </a:extLst>
          </p:cNvPr>
          <p:cNvSpPr>
            <a:spLocks noGrp="1"/>
          </p:cNvSpPr>
          <p:nvPr/>
        </p:nvSpPr>
        <p:spPr>
          <a:xfrm>
            <a:off x="800100" y="3162300"/>
            <a:ext cx="8705850" cy="2266950"/>
          </a:xfrm>
          <a:prstGeom prst="rect">
            <a:avLst/>
          </a:prstGeom>
        </p:spPr>
        <p:txBody>
          <a:bodyPr lIns="0" tIns="0" rIns="0" bIns="0"/>
          <a:lstStyle/>
          <a:p>
            <a:pPr>
              <a:defRPr sz="4950" b="1">
                <a:solidFill>
                  <a:srgbClr val="102030"/>
                </a:solidFill>
              </a:defRPr>
            </a:pPr>
            <a:r>
              <a:rPr sz="4950" b="1">
                <a:solidFill>
                  <a:srgbClr val="102030"/>
                </a:solidFill>
              </a:rPr>
              <a:t>How to use the dashboard like an intervention workflow, not just a map gallery.</a:t>
            </a:r>
          </a:p>
        </p:txBody>
      </p:sp>
      <p:sp>
        <p:nvSpPr>
          <p:cNvPr id="4" name="cover-subtitle">
            <a:extLst>
              <a:ext uri="{FF2B5EF4-FFF2-40B4-BE49-F238E27FC236}">
                <a16:creationId xmlns:a16="http://schemas.microsoft.com/office/drawing/2014/main" id="{181D4E33-6BC3-4964-85A0-7D93A1BBEA55}"/>
              </a:ext>
            </a:extLst>
          </p:cNvPr>
          <p:cNvSpPr>
            <a:spLocks noGrp="1"/>
          </p:cNvSpPr>
          <p:nvPr/>
        </p:nvSpPr>
        <p:spPr>
          <a:xfrm>
            <a:off x="800100" y="5676900"/>
            <a:ext cx="7639050" cy="971550"/>
          </a:xfrm>
          <a:prstGeom prst="rect">
            <a:avLst/>
          </a:prstGeom>
        </p:spPr>
        <p:txBody>
          <a:bodyPr lIns="0" tIns="0" rIns="0" bIns="0"/>
          <a:lstStyle/>
          <a:p>
            <a:pPr>
              <a:defRPr sz="2100">
                <a:solidFill>
                  <a:srgbClr val="415A77"/>
                </a:solidFill>
              </a:defRPr>
            </a:pPr>
            <a:r>
              <a:rPr sz="2100">
                <a:solidFill>
                  <a:srgbClr val="415A77"/>
                </a:solidFill>
              </a:rPr>
              <a:t>This walk-through uses live app insights to show how current hotspots, forecast risk, tract history, and state transitions work together to prioritize action.</a:t>
            </a:r>
          </a:p>
        </p:txBody>
      </p:sp>
      <p:sp>
        <p:nvSpPr>
          <p:cNvPr id="5" name="cover-rule">
            <a:extLst>
              <a:ext uri="{FF2B5EF4-FFF2-40B4-BE49-F238E27FC236}">
                <a16:creationId xmlns:a16="http://schemas.microsoft.com/office/drawing/2014/main" id="{AE2579CC-4309-42E0-B319-FEAF9145AEDB}"/>
              </a:ext>
            </a:extLst>
          </p:cNvPr>
          <p:cNvSpPr>
            <a:spLocks noGrp="1"/>
          </p:cNvSpPr>
          <p:nvPr/>
        </p:nvSpPr>
        <p:spPr>
          <a:xfrm>
            <a:off x="800100" y="6877050"/>
            <a:ext cx="2286000" cy="47625"/>
          </a:xfrm>
          <a:prstGeom prst="rect">
            <a:avLst/>
          </a:prstGeom>
          <a:solidFill>
            <a:srgbClr val="C98A2E"/>
          </a:solidFill>
          <a:ln w="0">
            <a:solidFill>
              <a:srgbClr val="C98A2E"/>
            </a:solidFill>
            <a:prstDash val="solid"/>
          </a:ln>
        </p:spPr>
        <p:txBody>
          <a:bodyPr/>
          <a:lstStyle/>
          <a:p>
            <a:endParaRPr lang="en-US"/>
          </a:p>
        </p:txBody>
      </p:sp>
      <p:sp>
        <p:nvSpPr>
          <p:cNvPr id="6" name="cover-date-note">
            <a:extLst>
              <a:ext uri="{FF2B5EF4-FFF2-40B4-BE49-F238E27FC236}">
                <a16:creationId xmlns:a16="http://schemas.microsoft.com/office/drawing/2014/main" id="{49206123-7C8E-4E59-AB0C-D6DA32CBA40A}"/>
              </a:ext>
            </a:extLst>
          </p:cNvPr>
          <p:cNvSpPr>
            <a:spLocks noGrp="1"/>
          </p:cNvSpPr>
          <p:nvPr/>
        </p:nvSpPr>
        <p:spPr>
          <a:xfrm>
            <a:off x="800100" y="7162800"/>
            <a:ext cx="7010400" cy="628650"/>
          </a:xfrm>
          <a:prstGeom prst="rect">
            <a:avLst/>
          </a:prstGeom>
        </p:spPr>
        <p:txBody>
          <a:bodyPr lIns="0" tIns="0" rIns="0" bIns="0"/>
          <a:lstStyle/>
          <a:p>
            <a:pPr>
              <a:defRPr sz="1350">
                <a:solidFill>
                  <a:srgbClr val="66778A"/>
                </a:solidFill>
              </a:defRPr>
            </a:pPr>
            <a:r>
              <a:rPr sz="1350">
                <a:solidFill>
                  <a:srgbClr val="66778A"/>
                </a:solidFill>
              </a:rPr>
              <a:t>Current-condition pages and live forecast pages now both reflect data through 2026-05-01. Historical backtest forecast rows remain available through 2025-05-01 for evaluation and case-study use.</a:t>
            </a:r>
          </a:p>
        </p:txBody>
      </p:sp>
      <p:sp>
        <p:nvSpPr>
          <p:cNvPr id="7" name="metric-value">
            <a:extLst>
              <a:ext uri="{FF2B5EF4-FFF2-40B4-BE49-F238E27FC236}">
                <a16:creationId xmlns:a16="http://schemas.microsoft.com/office/drawing/2014/main" id="{EA7F5E87-6E0C-44A2-8AED-519AA109247A}"/>
              </a:ext>
            </a:extLst>
          </p:cNvPr>
          <p:cNvSpPr>
            <a:spLocks noGrp="1"/>
          </p:cNvSpPr>
          <p:nvPr/>
        </p:nvSpPr>
        <p:spPr>
          <a:xfrm>
            <a:off x="13487400" y="2286000"/>
            <a:ext cx="4000500" cy="800100"/>
          </a:xfrm>
          <a:prstGeom prst="rect">
            <a:avLst/>
          </a:prstGeom>
        </p:spPr>
        <p:txBody>
          <a:bodyPr lIns="0" tIns="0" rIns="0" bIns="0"/>
          <a:lstStyle/>
          <a:p>
            <a:pPr>
              <a:defRPr sz="5250" b="1">
                <a:solidFill>
                  <a:srgbClr val="2A7F8C"/>
                </a:solidFill>
              </a:defRPr>
            </a:pPr>
            <a:r>
              <a:rPr sz="5250" b="1">
                <a:solidFill>
                  <a:srgbClr val="2A7F8C"/>
                </a:solidFill>
              </a:rPr>
              <a:t>6</a:t>
            </a:r>
          </a:p>
        </p:txBody>
      </p:sp>
      <p:sp>
        <p:nvSpPr>
          <p:cNvPr id="8" name="metric-label">
            <a:extLst>
              <a:ext uri="{FF2B5EF4-FFF2-40B4-BE49-F238E27FC236}">
                <a16:creationId xmlns:a16="http://schemas.microsoft.com/office/drawing/2014/main" id="{D3F86530-D9AC-426F-9034-7C96FC0DB3A7}"/>
              </a:ext>
            </a:extLst>
          </p:cNvPr>
          <p:cNvSpPr>
            <a:spLocks noGrp="1"/>
          </p:cNvSpPr>
          <p:nvPr/>
        </p:nvSpPr>
        <p:spPr>
          <a:xfrm>
            <a:off x="13487400" y="3162300"/>
            <a:ext cx="2667000" cy="533400"/>
          </a:xfrm>
          <a:prstGeom prst="rect">
            <a:avLst/>
          </a:prstGeom>
        </p:spPr>
        <p:txBody>
          <a:bodyPr lIns="0" tIns="0" rIns="0" bIns="0"/>
          <a:lstStyle/>
          <a:p>
            <a:pPr>
              <a:defRPr sz="1725" b="1">
                <a:solidFill>
                  <a:srgbClr val="102030"/>
                </a:solidFill>
              </a:defRPr>
            </a:pPr>
            <a:r>
              <a:rPr sz="1725" b="1">
                <a:solidFill>
                  <a:srgbClr val="102030"/>
                </a:solidFill>
              </a:rPr>
              <a:t>early-intervention candidates</a:t>
            </a:r>
          </a:p>
        </p:txBody>
      </p:sp>
      <p:sp>
        <p:nvSpPr>
          <p:cNvPr id="9" name="metric-note">
            <a:extLst>
              <a:ext uri="{FF2B5EF4-FFF2-40B4-BE49-F238E27FC236}">
                <a16:creationId xmlns:a16="http://schemas.microsoft.com/office/drawing/2014/main" id="{3E61B9F6-3915-445F-B085-ED80298AE0F0}"/>
              </a:ext>
            </a:extLst>
          </p:cNvPr>
          <p:cNvSpPr>
            <a:spLocks noGrp="1"/>
          </p:cNvSpPr>
          <p:nvPr/>
        </p:nvSpPr>
        <p:spPr>
          <a:xfrm>
            <a:off x="13487400" y="3771900"/>
            <a:ext cx="2914650" cy="381000"/>
          </a:xfrm>
          <a:prstGeom prst="rect">
            <a:avLst/>
          </a:prstGeom>
        </p:spPr>
        <p:txBody>
          <a:bodyPr lIns="0" tIns="0" rIns="0" bIns="0"/>
          <a:lstStyle/>
          <a:p>
            <a:pPr>
              <a:defRPr sz="1200">
                <a:solidFill>
                  <a:srgbClr val="415A77"/>
                </a:solidFill>
              </a:defRPr>
            </a:pPr>
            <a:r>
              <a:rPr sz="1200">
                <a:solidFill>
                  <a:srgbClr val="415A77"/>
                </a:solidFill>
              </a:rPr>
              <a:t>6m live forecast, non-severe tracts at 20%+ risk</a:t>
            </a:r>
          </a:p>
        </p:txBody>
      </p:sp>
      <p:sp>
        <p:nvSpPr>
          <p:cNvPr id="10" name="metric-rule">
            <a:extLst>
              <a:ext uri="{FF2B5EF4-FFF2-40B4-BE49-F238E27FC236}">
                <a16:creationId xmlns:a16="http://schemas.microsoft.com/office/drawing/2014/main" id="{70722ACF-53DA-4A09-9636-F4AA230DF406}"/>
              </a:ext>
            </a:extLst>
          </p:cNvPr>
          <p:cNvSpPr>
            <a:spLocks noGrp="1"/>
          </p:cNvSpPr>
          <p:nvPr/>
        </p:nvSpPr>
        <p:spPr>
          <a:xfrm>
            <a:off x="13487400" y="4210050"/>
            <a:ext cx="1714500" cy="19050"/>
          </a:xfrm>
          <a:prstGeom prst="rect">
            <a:avLst/>
          </a:prstGeom>
          <a:solidFill>
            <a:srgbClr val="D2C7BB"/>
          </a:solidFill>
          <a:ln w="0">
            <a:solidFill>
              <a:srgbClr val="D2C7BB"/>
            </a:solidFill>
            <a:prstDash val="solid"/>
          </a:ln>
        </p:spPr>
        <p:txBody>
          <a:bodyPr/>
          <a:lstStyle/>
          <a:p>
            <a:endParaRPr lang="en-US"/>
          </a:p>
        </p:txBody>
      </p:sp>
      <p:sp>
        <p:nvSpPr>
          <p:cNvPr id="11" name="metric-value">
            <a:extLst>
              <a:ext uri="{FF2B5EF4-FFF2-40B4-BE49-F238E27FC236}">
                <a16:creationId xmlns:a16="http://schemas.microsoft.com/office/drawing/2014/main" id="{AFE9AB85-C430-42F6-A4A4-85A5C62D1ABB}"/>
              </a:ext>
            </a:extLst>
          </p:cNvPr>
          <p:cNvSpPr>
            <a:spLocks noGrp="1"/>
          </p:cNvSpPr>
          <p:nvPr/>
        </p:nvSpPr>
        <p:spPr>
          <a:xfrm>
            <a:off x="13487400" y="4438650"/>
            <a:ext cx="4000500" cy="800100"/>
          </a:xfrm>
          <a:prstGeom prst="rect">
            <a:avLst/>
          </a:prstGeom>
        </p:spPr>
        <p:txBody>
          <a:bodyPr lIns="0" tIns="0" rIns="0" bIns="0"/>
          <a:lstStyle/>
          <a:p>
            <a:pPr>
              <a:defRPr sz="5250" b="1">
                <a:solidFill>
                  <a:srgbClr val="C6544C"/>
                </a:solidFill>
              </a:defRPr>
            </a:pPr>
            <a:r>
              <a:rPr sz="5250" b="1">
                <a:solidFill>
                  <a:srgbClr val="C6544C"/>
                </a:solidFill>
              </a:rPr>
              <a:t>5</a:t>
            </a:r>
          </a:p>
        </p:txBody>
      </p:sp>
      <p:sp>
        <p:nvSpPr>
          <p:cNvPr id="12" name="metric-label">
            <a:extLst>
              <a:ext uri="{FF2B5EF4-FFF2-40B4-BE49-F238E27FC236}">
                <a16:creationId xmlns:a16="http://schemas.microsoft.com/office/drawing/2014/main" id="{10EEA387-7C61-418E-989C-9171DAFF92EA}"/>
              </a:ext>
            </a:extLst>
          </p:cNvPr>
          <p:cNvSpPr>
            <a:spLocks noGrp="1"/>
          </p:cNvSpPr>
          <p:nvPr/>
        </p:nvSpPr>
        <p:spPr>
          <a:xfrm>
            <a:off x="13487400" y="5314950"/>
            <a:ext cx="2305050" cy="266700"/>
          </a:xfrm>
          <a:prstGeom prst="rect">
            <a:avLst/>
          </a:prstGeom>
        </p:spPr>
        <p:txBody>
          <a:bodyPr lIns="0" tIns="0" rIns="0" bIns="0"/>
          <a:lstStyle/>
          <a:p>
            <a:pPr>
              <a:defRPr sz="1725" b="1">
                <a:solidFill>
                  <a:srgbClr val="102030"/>
                </a:solidFill>
              </a:defRPr>
            </a:pPr>
            <a:r>
              <a:rPr sz="1725" b="1">
                <a:solidFill>
                  <a:srgbClr val="102030"/>
                </a:solidFill>
              </a:rPr>
              <a:t>rapid-deterioration tracts</a:t>
            </a:r>
          </a:p>
        </p:txBody>
      </p:sp>
      <p:sp>
        <p:nvSpPr>
          <p:cNvPr id="13" name="metric-note">
            <a:extLst>
              <a:ext uri="{FF2B5EF4-FFF2-40B4-BE49-F238E27FC236}">
                <a16:creationId xmlns:a16="http://schemas.microsoft.com/office/drawing/2014/main" id="{89B4E19F-BB22-4263-8849-11E717EBDE0E}"/>
              </a:ext>
            </a:extLst>
          </p:cNvPr>
          <p:cNvSpPr>
            <a:spLocks noGrp="1"/>
          </p:cNvSpPr>
          <p:nvPr/>
        </p:nvSpPr>
        <p:spPr>
          <a:xfrm>
            <a:off x="13487400" y="5657850"/>
            <a:ext cx="2133600" cy="381000"/>
          </a:xfrm>
          <a:prstGeom prst="rect">
            <a:avLst/>
          </a:prstGeom>
        </p:spPr>
        <p:txBody>
          <a:bodyPr lIns="0" tIns="0" rIns="0" bIns="0"/>
          <a:lstStyle/>
          <a:p>
            <a:pPr>
              <a:defRPr sz="1200">
                <a:solidFill>
                  <a:srgbClr val="415A77"/>
                </a:solidFill>
              </a:defRPr>
            </a:pPr>
            <a:r>
              <a:rPr sz="1200">
                <a:solidFill>
                  <a:srgbClr val="415A77"/>
                </a:solidFill>
              </a:rPr>
              <a:t>current snapshot as of 2026-05-01</a:t>
            </a:r>
          </a:p>
        </p:txBody>
      </p:sp>
      <p:sp>
        <p:nvSpPr>
          <p:cNvPr id="14" name="metric-rule">
            <a:extLst>
              <a:ext uri="{FF2B5EF4-FFF2-40B4-BE49-F238E27FC236}">
                <a16:creationId xmlns:a16="http://schemas.microsoft.com/office/drawing/2014/main" id="{30C28220-02F8-44CC-A227-93DA696D2361}"/>
              </a:ext>
            </a:extLst>
          </p:cNvPr>
          <p:cNvSpPr>
            <a:spLocks noGrp="1"/>
          </p:cNvSpPr>
          <p:nvPr/>
        </p:nvSpPr>
        <p:spPr>
          <a:xfrm>
            <a:off x="13487400" y="6096000"/>
            <a:ext cx="1714500" cy="19050"/>
          </a:xfrm>
          <a:prstGeom prst="rect">
            <a:avLst/>
          </a:prstGeom>
          <a:solidFill>
            <a:srgbClr val="D2C7BB"/>
          </a:solidFill>
          <a:ln w="0">
            <a:solidFill>
              <a:srgbClr val="D2C7BB"/>
            </a:solidFill>
            <a:prstDash val="solid"/>
          </a:ln>
        </p:spPr>
        <p:txBody>
          <a:bodyPr/>
          <a:lstStyle/>
          <a:p>
            <a:endParaRPr lang="en-US"/>
          </a:p>
        </p:txBody>
      </p:sp>
      <p:sp>
        <p:nvSpPr>
          <p:cNvPr id="15" name="metric-value">
            <a:extLst>
              <a:ext uri="{FF2B5EF4-FFF2-40B4-BE49-F238E27FC236}">
                <a16:creationId xmlns:a16="http://schemas.microsoft.com/office/drawing/2014/main" id="{63C2860A-520B-4908-B0DE-7938F31564F8}"/>
              </a:ext>
            </a:extLst>
          </p:cNvPr>
          <p:cNvSpPr>
            <a:spLocks noGrp="1"/>
          </p:cNvSpPr>
          <p:nvPr/>
        </p:nvSpPr>
        <p:spPr>
          <a:xfrm>
            <a:off x="13487400" y="6324600"/>
            <a:ext cx="4000500" cy="800100"/>
          </a:xfrm>
          <a:prstGeom prst="rect">
            <a:avLst/>
          </a:prstGeom>
        </p:spPr>
        <p:txBody>
          <a:bodyPr lIns="0" tIns="0" rIns="0" bIns="0"/>
          <a:lstStyle/>
          <a:p>
            <a:pPr>
              <a:defRPr sz="5250" b="1">
                <a:solidFill>
                  <a:srgbClr val="C98A2E"/>
                </a:solidFill>
              </a:defRPr>
            </a:pPr>
            <a:r>
              <a:rPr sz="5250" b="1">
                <a:solidFill>
                  <a:srgbClr val="C98A2E"/>
                </a:solidFill>
              </a:rPr>
              <a:t>18</a:t>
            </a:r>
          </a:p>
        </p:txBody>
      </p:sp>
      <p:sp>
        <p:nvSpPr>
          <p:cNvPr id="16" name="metric-label">
            <a:extLst>
              <a:ext uri="{FF2B5EF4-FFF2-40B4-BE49-F238E27FC236}">
                <a16:creationId xmlns:a16="http://schemas.microsoft.com/office/drawing/2014/main" id="{3F54202B-14D8-4521-9A19-366B119DD789}"/>
              </a:ext>
            </a:extLst>
          </p:cNvPr>
          <p:cNvSpPr>
            <a:spLocks noGrp="1"/>
          </p:cNvSpPr>
          <p:nvPr/>
        </p:nvSpPr>
        <p:spPr>
          <a:xfrm>
            <a:off x="13487400" y="7200900"/>
            <a:ext cx="1924050" cy="266700"/>
          </a:xfrm>
          <a:prstGeom prst="rect">
            <a:avLst/>
          </a:prstGeom>
        </p:spPr>
        <p:txBody>
          <a:bodyPr lIns="0" tIns="0" rIns="0" bIns="0"/>
          <a:lstStyle/>
          <a:p>
            <a:pPr>
              <a:defRPr sz="1725" b="1">
                <a:solidFill>
                  <a:srgbClr val="102030"/>
                </a:solidFill>
              </a:defRPr>
            </a:pPr>
            <a:r>
              <a:rPr sz="1725" b="1">
                <a:solidFill>
                  <a:srgbClr val="102030"/>
                </a:solidFill>
              </a:rPr>
              <a:t>tracts above 20% risk</a:t>
            </a:r>
          </a:p>
        </p:txBody>
      </p:sp>
      <p:sp>
        <p:nvSpPr>
          <p:cNvPr id="17" name="metric-note">
            <a:extLst>
              <a:ext uri="{FF2B5EF4-FFF2-40B4-BE49-F238E27FC236}">
                <a16:creationId xmlns:a16="http://schemas.microsoft.com/office/drawing/2014/main" id="{78FB1CE1-E97D-4521-A6DA-95CA0806E6B0}"/>
              </a:ext>
            </a:extLst>
          </p:cNvPr>
          <p:cNvSpPr>
            <a:spLocks noGrp="1"/>
          </p:cNvSpPr>
          <p:nvPr/>
        </p:nvSpPr>
        <p:spPr>
          <a:xfrm>
            <a:off x="13487400" y="7543800"/>
            <a:ext cx="2952750" cy="381000"/>
          </a:xfrm>
          <a:prstGeom prst="rect">
            <a:avLst/>
          </a:prstGeom>
        </p:spPr>
        <p:txBody>
          <a:bodyPr lIns="0" tIns="0" rIns="0" bIns="0"/>
          <a:lstStyle/>
          <a:p>
            <a:pPr>
              <a:defRPr sz="1200">
                <a:solidFill>
                  <a:srgbClr val="415A77"/>
                </a:solidFill>
              </a:defRPr>
            </a:pPr>
            <a:r>
              <a:rPr sz="1200">
                <a:solidFill>
                  <a:srgbClr val="415A77"/>
                </a:solidFill>
              </a:rPr>
              <a:t>latest 6m live-scored snapshot as of 2026-05-01</a:t>
            </a:r>
          </a:p>
        </p:txBody>
      </p:sp>
      <p:sp>
        <p:nvSpPr>
          <p:cNvPr id="18" name="metric-rule">
            <a:extLst>
              <a:ext uri="{FF2B5EF4-FFF2-40B4-BE49-F238E27FC236}">
                <a16:creationId xmlns:a16="http://schemas.microsoft.com/office/drawing/2014/main" id="{14D3239C-4254-4741-888C-F951E060C168}"/>
              </a:ext>
            </a:extLst>
          </p:cNvPr>
          <p:cNvSpPr>
            <a:spLocks noGrp="1"/>
          </p:cNvSpPr>
          <p:nvPr/>
        </p:nvSpPr>
        <p:spPr>
          <a:xfrm>
            <a:off x="13487400" y="7981950"/>
            <a:ext cx="1714500" cy="19050"/>
          </a:xfrm>
          <a:prstGeom prst="rect">
            <a:avLst/>
          </a:prstGeom>
          <a:solidFill>
            <a:srgbClr val="D2C7BB"/>
          </a:solidFill>
          <a:ln w="0">
            <a:solidFill>
              <a:srgbClr val="D2C7BB"/>
            </a:solidFill>
            <a:prstDash val="solid"/>
          </a:ln>
        </p:spPr>
        <p:txBody>
          <a:bodyPr/>
          <a:lstStyle/>
          <a:p>
            <a:endParaRPr lang="en-US"/>
          </a:p>
        </p:txBody>
      </p:sp>
    </p:spTree>
    <p:extLst>
      <p:ext uri="{BB962C8B-B14F-4D97-AF65-F5344CB8AC3E}">
        <p14:creationId xmlns:p14="http://schemas.microsoft.com/office/powerpoint/2010/main" val="383192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background">
            <a:extLst>
              <a:ext uri="{FF2B5EF4-FFF2-40B4-BE49-F238E27FC236}">
                <a16:creationId xmlns:a16="http://schemas.microsoft.com/office/drawing/2014/main" id="{8C1DC5DC-6454-4990-9B15-4F8CA2535A5B}"/>
              </a:ext>
            </a:extLst>
          </p:cNvPr>
          <p:cNvSpPr>
            <a:spLocks noGrp="1"/>
          </p:cNvSpPr>
          <p:nvPr/>
        </p:nvSpPr>
        <p:spPr>
          <a:xfrm>
            <a:off x="-304800" y="0"/>
            <a:ext cx="18592800" cy="10248900"/>
          </a:xfrm>
          <a:prstGeom prst="rect">
            <a:avLst/>
          </a:prstGeom>
          <a:solidFill>
            <a:srgbClr val="F6F3EE"/>
          </a:solidFill>
        </p:spPr>
        <p:txBody>
          <a:bodyPr/>
          <a:lstStyle/>
          <a:p>
            <a:endParaRPr lang="en-US" sz="1600"/>
          </a:p>
        </p:txBody>
      </p:sp>
      <p:sp>
        <p:nvSpPr>
          <p:cNvPr id="2" name="kicker">
            <a:extLst>
              <a:ext uri="{FF2B5EF4-FFF2-40B4-BE49-F238E27FC236}">
                <a16:creationId xmlns:a16="http://schemas.microsoft.com/office/drawing/2014/main" id="{068D2B00-0E87-40FB-BBD6-71515D1A339B}"/>
              </a:ext>
            </a:extLst>
          </p:cNvPr>
          <p:cNvSpPr>
            <a:spLocks noGrp="1"/>
          </p:cNvSpPr>
          <p:nvPr/>
        </p:nvSpPr>
        <p:spPr>
          <a:xfrm>
            <a:off x="800100" y="685800"/>
            <a:ext cx="1695450" cy="419100"/>
          </a:xfrm>
          <a:prstGeom prst="rect">
            <a:avLst/>
          </a:prstGeom>
        </p:spPr>
        <p:txBody>
          <a:bodyPr lIns="0" tIns="0" rIns="0" bIns="0"/>
          <a:lstStyle/>
          <a:p>
            <a:pPr>
              <a:defRPr sz="1350" b="1">
                <a:solidFill>
                  <a:srgbClr val="2A7F8C"/>
                </a:solidFill>
              </a:defRPr>
            </a:pPr>
            <a:r>
              <a:rPr sz="1350" b="1">
                <a:solidFill>
                  <a:srgbClr val="2A7F8C"/>
                </a:solidFill>
              </a:rPr>
              <a:t>OPERATOR WORKFLOW</a:t>
            </a:r>
          </a:p>
        </p:txBody>
      </p:sp>
      <p:sp>
        <p:nvSpPr>
          <p:cNvPr id="3" name="title">
            <a:extLst>
              <a:ext uri="{FF2B5EF4-FFF2-40B4-BE49-F238E27FC236}">
                <a16:creationId xmlns:a16="http://schemas.microsoft.com/office/drawing/2014/main" id="{4AFC9FFE-79FF-4A75-A49A-AD6FB9A25943}"/>
              </a:ext>
            </a:extLst>
          </p:cNvPr>
          <p:cNvSpPr>
            <a:spLocks noGrp="1"/>
          </p:cNvSpPr>
          <p:nvPr/>
        </p:nvSpPr>
        <p:spPr>
          <a:xfrm>
            <a:off x="800100" y="1238250"/>
            <a:ext cx="9925050" cy="1333500"/>
          </a:xfrm>
          <a:prstGeom prst="rect">
            <a:avLst/>
          </a:prstGeom>
        </p:spPr>
        <p:txBody>
          <a:bodyPr lIns="0" tIns="0" rIns="0" bIns="0"/>
          <a:lstStyle/>
          <a:p>
            <a:pPr>
              <a:defRPr sz="4350" b="1">
                <a:solidFill>
                  <a:srgbClr val="102030"/>
                </a:solidFill>
              </a:defRPr>
            </a:pPr>
            <a:r>
              <a:rPr sz="4350" b="1">
                <a:solidFill>
                  <a:srgbClr val="102030"/>
                </a:solidFill>
              </a:rPr>
              <a:t>Use the app in a sequence that moves from visible distress to future risk.</a:t>
            </a:r>
          </a:p>
        </p:txBody>
      </p:sp>
      <p:sp>
        <p:nvSpPr>
          <p:cNvPr id="4" name="subtitle">
            <a:extLst>
              <a:ext uri="{FF2B5EF4-FFF2-40B4-BE49-F238E27FC236}">
                <a16:creationId xmlns:a16="http://schemas.microsoft.com/office/drawing/2014/main" id="{AE1F021D-18AC-4121-909C-795E17AFC01E}"/>
              </a:ext>
            </a:extLst>
          </p:cNvPr>
          <p:cNvSpPr>
            <a:spLocks noGrp="1"/>
          </p:cNvSpPr>
          <p:nvPr/>
        </p:nvSpPr>
        <p:spPr>
          <a:xfrm>
            <a:off x="800100" y="2686050"/>
            <a:ext cx="9563100" cy="285750"/>
          </a:xfrm>
          <a:prstGeom prst="rect">
            <a:avLst/>
          </a:prstGeom>
        </p:spPr>
        <p:txBody>
          <a:bodyPr lIns="0" tIns="0" rIns="0" bIns="0"/>
          <a:lstStyle/>
          <a:p>
            <a:pPr>
              <a:defRPr sz="1875">
                <a:solidFill>
                  <a:srgbClr val="415A77"/>
                </a:solidFill>
              </a:defRPr>
            </a:pPr>
            <a:r>
              <a:rPr sz="1875">
                <a:solidFill>
                  <a:srgbClr val="415A77"/>
                </a:solidFill>
              </a:rPr>
              <a:t>The dashboard is strongest when each page answers a different question in the same decision flow.</a:t>
            </a:r>
          </a:p>
        </p:txBody>
      </p:sp>
      <p:sp>
        <p:nvSpPr>
          <p:cNvPr id="5" name="step-number-1">
            <a:extLst>
              <a:ext uri="{FF2B5EF4-FFF2-40B4-BE49-F238E27FC236}">
                <a16:creationId xmlns:a16="http://schemas.microsoft.com/office/drawing/2014/main" id="{7E65F4B1-C305-49F6-B197-91285BDC2DB5}"/>
              </a:ext>
            </a:extLst>
          </p:cNvPr>
          <p:cNvSpPr>
            <a:spLocks noGrp="1"/>
          </p:cNvSpPr>
          <p:nvPr/>
        </p:nvSpPr>
        <p:spPr>
          <a:xfrm>
            <a:off x="800100" y="3295650"/>
            <a:ext cx="5524500" cy="514350"/>
          </a:xfrm>
          <a:prstGeom prst="rect">
            <a:avLst/>
          </a:prstGeom>
        </p:spPr>
        <p:txBody>
          <a:bodyPr lIns="0" tIns="0" rIns="0" bIns="0"/>
          <a:lstStyle/>
          <a:p>
            <a:pPr>
              <a:defRPr sz="3300" b="1">
                <a:solidFill>
                  <a:srgbClr val="C98A2E"/>
                </a:solidFill>
              </a:defRPr>
            </a:pPr>
            <a:r>
              <a:rPr sz="3300" b="1" dirty="0">
                <a:solidFill>
                  <a:srgbClr val="C98A2E"/>
                </a:solidFill>
              </a:rPr>
              <a:t>1</a:t>
            </a:r>
          </a:p>
        </p:txBody>
      </p:sp>
      <p:sp>
        <p:nvSpPr>
          <p:cNvPr id="6" name="step-page-1">
            <a:extLst>
              <a:ext uri="{FF2B5EF4-FFF2-40B4-BE49-F238E27FC236}">
                <a16:creationId xmlns:a16="http://schemas.microsoft.com/office/drawing/2014/main" id="{9B178A38-7540-4C6F-8E77-6DB02C2CB4C2}"/>
              </a:ext>
            </a:extLst>
          </p:cNvPr>
          <p:cNvSpPr>
            <a:spLocks noGrp="1"/>
          </p:cNvSpPr>
          <p:nvPr/>
        </p:nvSpPr>
        <p:spPr>
          <a:xfrm>
            <a:off x="800100" y="3905249"/>
            <a:ext cx="1952352" cy="280961"/>
          </a:xfrm>
          <a:prstGeom prst="rect">
            <a:avLst/>
          </a:prstGeom>
        </p:spPr>
        <p:txBody>
          <a:bodyPr lIns="0" tIns="0" rIns="0" bIns="0"/>
          <a:lstStyle/>
          <a:p>
            <a:pPr>
              <a:defRPr sz="1350" b="1">
                <a:solidFill>
                  <a:srgbClr val="102030"/>
                </a:solidFill>
              </a:defRPr>
            </a:pPr>
            <a:r>
              <a:rPr sz="2000" b="1" dirty="0">
                <a:solidFill>
                  <a:srgbClr val="102030"/>
                </a:solidFill>
              </a:rPr>
              <a:t>Hotspot Analysis</a:t>
            </a:r>
          </a:p>
        </p:txBody>
      </p:sp>
      <p:sp>
        <p:nvSpPr>
          <p:cNvPr id="7" name="step-action-1">
            <a:extLst>
              <a:ext uri="{FF2B5EF4-FFF2-40B4-BE49-F238E27FC236}">
                <a16:creationId xmlns:a16="http://schemas.microsoft.com/office/drawing/2014/main" id="{D5915488-A467-4148-B464-D6574D3A2C1A}"/>
              </a:ext>
            </a:extLst>
          </p:cNvPr>
          <p:cNvSpPr>
            <a:spLocks noGrp="1"/>
          </p:cNvSpPr>
          <p:nvPr/>
        </p:nvSpPr>
        <p:spPr>
          <a:xfrm>
            <a:off x="800100" y="4286536"/>
            <a:ext cx="3330438" cy="690590"/>
          </a:xfrm>
          <a:prstGeom prst="rect">
            <a:avLst/>
          </a:prstGeom>
        </p:spPr>
        <p:txBody>
          <a:bodyPr lIns="0" tIns="0" rIns="0" bIns="0"/>
          <a:lstStyle/>
          <a:p>
            <a:pPr>
              <a:defRPr sz="1125">
                <a:solidFill>
                  <a:srgbClr val="415A77"/>
                </a:solidFill>
              </a:defRPr>
            </a:pPr>
            <a:r>
              <a:rPr sz="2000" dirty="0">
                <a:solidFill>
                  <a:srgbClr val="415A77"/>
                </a:solidFill>
              </a:rPr>
              <a:t>Find the tracts already showing concentrated current distress.</a:t>
            </a:r>
          </a:p>
        </p:txBody>
      </p:sp>
      <p:sp>
        <p:nvSpPr>
          <p:cNvPr id="8" name="step-number-2">
            <a:extLst>
              <a:ext uri="{FF2B5EF4-FFF2-40B4-BE49-F238E27FC236}">
                <a16:creationId xmlns:a16="http://schemas.microsoft.com/office/drawing/2014/main" id="{4CEF5E68-2777-45EB-BB9F-03A56D244B3D}"/>
              </a:ext>
            </a:extLst>
          </p:cNvPr>
          <p:cNvSpPr>
            <a:spLocks noGrp="1"/>
          </p:cNvSpPr>
          <p:nvPr/>
        </p:nvSpPr>
        <p:spPr>
          <a:xfrm>
            <a:off x="800100" y="5049394"/>
            <a:ext cx="5524500" cy="514350"/>
          </a:xfrm>
          <a:prstGeom prst="rect">
            <a:avLst/>
          </a:prstGeom>
        </p:spPr>
        <p:txBody>
          <a:bodyPr lIns="0" tIns="0" rIns="0" bIns="0"/>
          <a:lstStyle/>
          <a:p>
            <a:pPr>
              <a:defRPr sz="3300" b="1">
                <a:solidFill>
                  <a:srgbClr val="C98A2E"/>
                </a:solidFill>
              </a:defRPr>
            </a:pPr>
            <a:r>
              <a:rPr sz="3300" b="1" dirty="0">
                <a:solidFill>
                  <a:srgbClr val="C98A2E"/>
                </a:solidFill>
              </a:rPr>
              <a:t>2</a:t>
            </a:r>
          </a:p>
        </p:txBody>
      </p:sp>
      <p:sp>
        <p:nvSpPr>
          <p:cNvPr id="9" name="step-page-2">
            <a:extLst>
              <a:ext uri="{FF2B5EF4-FFF2-40B4-BE49-F238E27FC236}">
                <a16:creationId xmlns:a16="http://schemas.microsoft.com/office/drawing/2014/main" id="{4E54387A-0697-49E9-B3B9-2EACF05D71B3}"/>
              </a:ext>
            </a:extLst>
          </p:cNvPr>
          <p:cNvSpPr>
            <a:spLocks noGrp="1"/>
          </p:cNvSpPr>
          <p:nvPr/>
        </p:nvSpPr>
        <p:spPr>
          <a:xfrm>
            <a:off x="800100" y="5658994"/>
            <a:ext cx="3010250" cy="342900"/>
          </a:xfrm>
          <a:prstGeom prst="rect">
            <a:avLst/>
          </a:prstGeom>
        </p:spPr>
        <p:txBody>
          <a:bodyPr lIns="0" tIns="0" rIns="0" bIns="0"/>
          <a:lstStyle/>
          <a:p>
            <a:pPr>
              <a:defRPr sz="1350" b="1">
                <a:solidFill>
                  <a:srgbClr val="102030"/>
                </a:solidFill>
              </a:defRPr>
            </a:pPr>
            <a:r>
              <a:rPr sz="2000" b="1" dirty="0">
                <a:solidFill>
                  <a:srgbClr val="102030"/>
                </a:solidFill>
              </a:rPr>
              <a:t>Tract-Level Forecast Risk</a:t>
            </a:r>
          </a:p>
        </p:txBody>
      </p:sp>
      <p:sp>
        <p:nvSpPr>
          <p:cNvPr id="10" name="step-action-2">
            <a:extLst>
              <a:ext uri="{FF2B5EF4-FFF2-40B4-BE49-F238E27FC236}">
                <a16:creationId xmlns:a16="http://schemas.microsoft.com/office/drawing/2014/main" id="{B7AEA786-2B77-49A3-BF74-8EB0CFCC6EC4}"/>
              </a:ext>
            </a:extLst>
          </p:cNvPr>
          <p:cNvSpPr>
            <a:spLocks noGrp="1"/>
          </p:cNvSpPr>
          <p:nvPr/>
        </p:nvSpPr>
        <p:spPr>
          <a:xfrm>
            <a:off x="800099" y="5963794"/>
            <a:ext cx="4312041" cy="690590"/>
          </a:xfrm>
          <a:prstGeom prst="rect">
            <a:avLst/>
          </a:prstGeom>
        </p:spPr>
        <p:txBody>
          <a:bodyPr lIns="0" tIns="0" rIns="0" bIns="0"/>
          <a:lstStyle/>
          <a:p>
            <a:pPr>
              <a:defRPr sz="1125">
                <a:solidFill>
                  <a:srgbClr val="415A77"/>
                </a:solidFill>
              </a:defRPr>
            </a:pPr>
            <a:r>
              <a:rPr sz="2000">
                <a:solidFill>
                  <a:srgbClr val="415A77"/>
                </a:solidFill>
              </a:rPr>
              <a:t>Compare severe-risk probabilities across 1m, 3m, 6m, and 12m horizons.</a:t>
            </a:r>
          </a:p>
        </p:txBody>
      </p:sp>
      <p:sp>
        <p:nvSpPr>
          <p:cNvPr id="11" name="step-number-3">
            <a:extLst>
              <a:ext uri="{FF2B5EF4-FFF2-40B4-BE49-F238E27FC236}">
                <a16:creationId xmlns:a16="http://schemas.microsoft.com/office/drawing/2014/main" id="{70B84B92-50A4-418B-8233-C853977FEA6C}"/>
              </a:ext>
            </a:extLst>
          </p:cNvPr>
          <p:cNvSpPr>
            <a:spLocks noGrp="1"/>
          </p:cNvSpPr>
          <p:nvPr/>
        </p:nvSpPr>
        <p:spPr>
          <a:xfrm>
            <a:off x="800100" y="6742568"/>
            <a:ext cx="5524500" cy="514350"/>
          </a:xfrm>
          <a:prstGeom prst="rect">
            <a:avLst/>
          </a:prstGeom>
        </p:spPr>
        <p:txBody>
          <a:bodyPr lIns="0" tIns="0" rIns="0" bIns="0"/>
          <a:lstStyle/>
          <a:p>
            <a:pPr>
              <a:defRPr sz="3300" b="1">
                <a:solidFill>
                  <a:srgbClr val="C98A2E"/>
                </a:solidFill>
              </a:defRPr>
            </a:pPr>
            <a:r>
              <a:rPr sz="3300" b="1" dirty="0">
                <a:solidFill>
                  <a:srgbClr val="C98A2E"/>
                </a:solidFill>
              </a:rPr>
              <a:t>3</a:t>
            </a:r>
          </a:p>
        </p:txBody>
      </p:sp>
      <p:sp>
        <p:nvSpPr>
          <p:cNvPr id="12" name="step-page-3">
            <a:extLst>
              <a:ext uri="{FF2B5EF4-FFF2-40B4-BE49-F238E27FC236}">
                <a16:creationId xmlns:a16="http://schemas.microsoft.com/office/drawing/2014/main" id="{B16A87C3-641D-4F45-B7FF-FC9A0541A418}"/>
              </a:ext>
            </a:extLst>
          </p:cNvPr>
          <p:cNvSpPr>
            <a:spLocks noGrp="1"/>
          </p:cNvSpPr>
          <p:nvPr/>
        </p:nvSpPr>
        <p:spPr>
          <a:xfrm>
            <a:off x="800099" y="7248960"/>
            <a:ext cx="2095499" cy="419100"/>
          </a:xfrm>
          <a:prstGeom prst="rect">
            <a:avLst/>
          </a:prstGeom>
        </p:spPr>
        <p:txBody>
          <a:bodyPr lIns="0" tIns="0" rIns="0" bIns="0"/>
          <a:lstStyle/>
          <a:p>
            <a:pPr>
              <a:defRPr sz="1350" b="1">
                <a:solidFill>
                  <a:srgbClr val="102030"/>
                </a:solidFill>
              </a:defRPr>
            </a:pPr>
            <a:r>
              <a:rPr sz="2000" b="1" dirty="0">
                <a:solidFill>
                  <a:srgbClr val="102030"/>
                </a:solidFill>
              </a:rPr>
              <a:t>Early Intervention</a:t>
            </a:r>
          </a:p>
        </p:txBody>
      </p:sp>
      <p:sp>
        <p:nvSpPr>
          <p:cNvPr id="13" name="step-action-3">
            <a:extLst>
              <a:ext uri="{FF2B5EF4-FFF2-40B4-BE49-F238E27FC236}">
                <a16:creationId xmlns:a16="http://schemas.microsoft.com/office/drawing/2014/main" id="{3C29A03B-CE2B-4AAA-A2C8-844B3546A57F}"/>
              </a:ext>
            </a:extLst>
          </p:cNvPr>
          <p:cNvSpPr>
            <a:spLocks noGrp="1"/>
          </p:cNvSpPr>
          <p:nvPr/>
        </p:nvSpPr>
        <p:spPr>
          <a:xfrm>
            <a:off x="811756" y="7553760"/>
            <a:ext cx="4347098" cy="690590"/>
          </a:xfrm>
          <a:prstGeom prst="rect">
            <a:avLst/>
          </a:prstGeom>
        </p:spPr>
        <p:txBody>
          <a:bodyPr lIns="0" tIns="0" rIns="0" bIns="0"/>
          <a:lstStyle/>
          <a:p>
            <a:pPr>
              <a:defRPr sz="1125">
                <a:solidFill>
                  <a:srgbClr val="415A77"/>
                </a:solidFill>
              </a:defRPr>
            </a:pPr>
            <a:r>
              <a:rPr sz="2000" dirty="0">
                <a:solidFill>
                  <a:srgbClr val="415A77"/>
                </a:solidFill>
              </a:rPr>
              <a:t>Focus on non-severe tracts where earlier action still matters.</a:t>
            </a:r>
          </a:p>
        </p:txBody>
      </p:sp>
      <p:sp>
        <p:nvSpPr>
          <p:cNvPr id="14" name="step-number-4">
            <a:extLst>
              <a:ext uri="{FF2B5EF4-FFF2-40B4-BE49-F238E27FC236}">
                <a16:creationId xmlns:a16="http://schemas.microsoft.com/office/drawing/2014/main" id="{4DD3FF2D-DD26-45B8-9914-F80716E24786}"/>
              </a:ext>
            </a:extLst>
          </p:cNvPr>
          <p:cNvSpPr>
            <a:spLocks noGrp="1"/>
          </p:cNvSpPr>
          <p:nvPr/>
        </p:nvSpPr>
        <p:spPr>
          <a:xfrm>
            <a:off x="6591300" y="3295650"/>
            <a:ext cx="5524500" cy="514350"/>
          </a:xfrm>
          <a:prstGeom prst="rect">
            <a:avLst/>
          </a:prstGeom>
        </p:spPr>
        <p:txBody>
          <a:bodyPr lIns="0" tIns="0" rIns="0" bIns="0"/>
          <a:lstStyle/>
          <a:p>
            <a:pPr>
              <a:defRPr sz="3300" b="1">
                <a:solidFill>
                  <a:srgbClr val="C98A2E"/>
                </a:solidFill>
              </a:defRPr>
            </a:pPr>
            <a:r>
              <a:rPr sz="3300" b="1">
                <a:solidFill>
                  <a:srgbClr val="C98A2E"/>
                </a:solidFill>
              </a:rPr>
              <a:t>4</a:t>
            </a:r>
          </a:p>
        </p:txBody>
      </p:sp>
      <p:sp>
        <p:nvSpPr>
          <p:cNvPr id="15" name="step-page-4">
            <a:extLst>
              <a:ext uri="{FF2B5EF4-FFF2-40B4-BE49-F238E27FC236}">
                <a16:creationId xmlns:a16="http://schemas.microsoft.com/office/drawing/2014/main" id="{BC67B511-EFDF-4D45-B97C-EB3278EC320D}"/>
              </a:ext>
            </a:extLst>
          </p:cNvPr>
          <p:cNvSpPr>
            <a:spLocks noGrp="1"/>
          </p:cNvSpPr>
          <p:nvPr/>
        </p:nvSpPr>
        <p:spPr>
          <a:xfrm>
            <a:off x="6591300" y="3905250"/>
            <a:ext cx="1952352" cy="476250"/>
          </a:xfrm>
          <a:prstGeom prst="rect">
            <a:avLst/>
          </a:prstGeom>
        </p:spPr>
        <p:txBody>
          <a:bodyPr lIns="0" tIns="0" rIns="0" bIns="0"/>
          <a:lstStyle/>
          <a:p>
            <a:pPr>
              <a:defRPr sz="1350" b="1">
                <a:solidFill>
                  <a:srgbClr val="102030"/>
                </a:solidFill>
              </a:defRPr>
            </a:pPr>
            <a:r>
              <a:rPr sz="2000" b="1" dirty="0">
                <a:solidFill>
                  <a:srgbClr val="102030"/>
                </a:solidFill>
              </a:rPr>
              <a:t>Forecast Risk Map</a:t>
            </a:r>
          </a:p>
        </p:txBody>
      </p:sp>
      <p:sp>
        <p:nvSpPr>
          <p:cNvPr id="16" name="step-action-4">
            <a:extLst>
              <a:ext uri="{FF2B5EF4-FFF2-40B4-BE49-F238E27FC236}">
                <a16:creationId xmlns:a16="http://schemas.microsoft.com/office/drawing/2014/main" id="{7B5391F6-57E5-4D54-B876-7AF8C5676D8A}"/>
              </a:ext>
            </a:extLst>
          </p:cNvPr>
          <p:cNvSpPr>
            <a:spLocks noGrp="1"/>
          </p:cNvSpPr>
          <p:nvPr/>
        </p:nvSpPr>
        <p:spPr>
          <a:xfrm>
            <a:off x="6591299" y="4320640"/>
            <a:ext cx="4069308" cy="771526"/>
          </a:xfrm>
          <a:prstGeom prst="rect">
            <a:avLst/>
          </a:prstGeom>
        </p:spPr>
        <p:txBody>
          <a:bodyPr lIns="0" tIns="0" rIns="0" bIns="0"/>
          <a:lstStyle/>
          <a:p>
            <a:pPr>
              <a:defRPr sz="1125">
                <a:solidFill>
                  <a:srgbClr val="415A77"/>
                </a:solidFill>
              </a:defRPr>
            </a:pPr>
            <a:r>
              <a:rPr sz="2000" dirty="0">
                <a:solidFill>
                  <a:srgbClr val="415A77"/>
                </a:solidFill>
              </a:rPr>
              <a:t>Check whether the flagged tracts are isolated or part of a cluster or corridor.</a:t>
            </a:r>
          </a:p>
        </p:txBody>
      </p:sp>
      <p:sp>
        <p:nvSpPr>
          <p:cNvPr id="17" name="step-number-5">
            <a:extLst>
              <a:ext uri="{FF2B5EF4-FFF2-40B4-BE49-F238E27FC236}">
                <a16:creationId xmlns:a16="http://schemas.microsoft.com/office/drawing/2014/main" id="{D949D392-F447-4743-81D7-0B02D7FB9ED5}"/>
              </a:ext>
            </a:extLst>
          </p:cNvPr>
          <p:cNvSpPr>
            <a:spLocks noGrp="1"/>
          </p:cNvSpPr>
          <p:nvPr/>
        </p:nvSpPr>
        <p:spPr>
          <a:xfrm>
            <a:off x="6591300" y="5143923"/>
            <a:ext cx="5524500" cy="514350"/>
          </a:xfrm>
          <a:prstGeom prst="rect">
            <a:avLst/>
          </a:prstGeom>
        </p:spPr>
        <p:txBody>
          <a:bodyPr lIns="0" tIns="0" rIns="0" bIns="0"/>
          <a:lstStyle/>
          <a:p>
            <a:pPr>
              <a:defRPr sz="3300" b="1">
                <a:solidFill>
                  <a:srgbClr val="C98A2E"/>
                </a:solidFill>
              </a:defRPr>
            </a:pPr>
            <a:r>
              <a:rPr sz="3300" b="1" dirty="0">
                <a:solidFill>
                  <a:srgbClr val="C98A2E"/>
                </a:solidFill>
              </a:rPr>
              <a:t>5</a:t>
            </a:r>
          </a:p>
        </p:txBody>
      </p:sp>
      <p:sp>
        <p:nvSpPr>
          <p:cNvPr id="18" name="step-page-5">
            <a:extLst>
              <a:ext uri="{FF2B5EF4-FFF2-40B4-BE49-F238E27FC236}">
                <a16:creationId xmlns:a16="http://schemas.microsoft.com/office/drawing/2014/main" id="{6FBA5DF4-8BD3-4341-A51A-CD6050275BA2}"/>
              </a:ext>
            </a:extLst>
          </p:cNvPr>
          <p:cNvSpPr>
            <a:spLocks noGrp="1"/>
          </p:cNvSpPr>
          <p:nvPr/>
        </p:nvSpPr>
        <p:spPr>
          <a:xfrm>
            <a:off x="6591299" y="5658273"/>
            <a:ext cx="2962133" cy="342900"/>
          </a:xfrm>
          <a:prstGeom prst="rect">
            <a:avLst/>
          </a:prstGeom>
        </p:spPr>
        <p:txBody>
          <a:bodyPr lIns="0" tIns="0" rIns="0" bIns="0"/>
          <a:lstStyle/>
          <a:p>
            <a:pPr>
              <a:defRPr sz="1350" b="1">
                <a:solidFill>
                  <a:srgbClr val="102030"/>
                </a:solidFill>
              </a:defRPr>
            </a:pPr>
            <a:r>
              <a:rPr sz="2000" b="1" dirty="0">
                <a:solidFill>
                  <a:srgbClr val="102030"/>
                </a:solidFill>
              </a:rPr>
              <a:t>Tract Explorer + State Transitions</a:t>
            </a:r>
          </a:p>
        </p:txBody>
      </p:sp>
      <p:sp>
        <p:nvSpPr>
          <p:cNvPr id="19" name="step-action-5">
            <a:extLst>
              <a:ext uri="{FF2B5EF4-FFF2-40B4-BE49-F238E27FC236}">
                <a16:creationId xmlns:a16="http://schemas.microsoft.com/office/drawing/2014/main" id="{A359CCE5-BF67-4973-8721-A76FA05E73DF}"/>
              </a:ext>
            </a:extLst>
          </p:cNvPr>
          <p:cNvSpPr>
            <a:spLocks noGrp="1"/>
          </p:cNvSpPr>
          <p:nvPr/>
        </p:nvSpPr>
        <p:spPr>
          <a:xfrm>
            <a:off x="6591299" y="6403630"/>
            <a:ext cx="3856297" cy="1035885"/>
          </a:xfrm>
          <a:prstGeom prst="rect">
            <a:avLst/>
          </a:prstGeom>
        </p:spPr>
        <p:txBody>
          <a:bodyPr lIns="0" tIns="0" rIns="0" bIns="0"/>
          <a:lstStyle/>
          <a:p>
            <a:pPr>
              <a:defRPr sz="1125">
                <a:solidFill>
                  <a:srgbClr val="415A77"/>
                </a:solidFill>
              </a:defRPr>
            </a:pPr>
            <a:r>
              <a:rPr sz="2000" dirty="0">
                <a:solidFill>
                  <a:srgbClr val="415A77"/>
                </a:solidFill>
              </a:rPr>
              <a:t>Validate tract history and judge how sticky the surrounding state pattern tends to be.</a:t>
            </a:r>
          </a:p>
        </p:txBody>
      </p:sp>
      <p:sp>
        <p:nvSpPr>
          <p:cNvPr id="20" name="Current state snapshot-panel">
            <a:extLst>
              <a:ext uri="{FF2B5EF4-FFF2-40B4-BE49-F238E27FC236}">
                <a16:creationId xmlns:a16="http://schemas.microsoft.com/office/drawing/2014/main" id="{1F83FE91-B0AB-42DA-9715-CBB3D6FDE6BC}"/>
              </a:ext>
            </a:extLst>
          </p:cNvPr>
          <p:cNvSpPr>
            <a:spLocks noGrp="1"/>
          </p:cNvSpPr>
          <p:nvPr/>
        </p:nvSpPr>
        <p:spPr>
          <a:xfrm>
            <a:off x="11368585" y="2971800"/>
            <a:ext cx="6119315" cy="1466850"/>
          </a:xfrm>
          <a:prstGeom prst="rect">
            <a:avLst/>
          </a:prstGeom>
          <a:solidFill>
            <a:srgbClr val="DCECEF"/>
          </a:solidFill>
        </p:spPr>
        <p:txBody>
          <a:bodyPr/>
          <a:lstStyle/>
          <a:p>
            <a:endParaRPr lang="en-US"/>
          </a:p>
        </p:txBody>
      </p:sp>
      <p:sp>
        <p:nvSpPr>
          <p:cNvPr id="21" name="Rectangle 20">
            <a:extLst>
              <a:ext uri="{FF2B5EF4-FFF2-40B4-BE49-F238E27FC236}">
                <a16:creationId xmlns:a16="http://schemas.microsoft.com/office/drawing/2014/main" id="{42E85A2A-E780-40C5-BA77-F1FBE07ED00B}"/>
              </a:ext>
            </a:extLst>
          </p:cNvPr>
          <p:cNvSpPr>
            <a:spLocks noGrp="1"/>
          </p:cNvSpPr>
          <p:nvPr/>
        </p:nvSpPr>
        <p:spPr>
          <a:xfrm>
            <a:off x="11563077" y="3160738"/>
            <a:ext cx="5648598" cy="367971"/>
          </a:xfrm>
          <a:prstGeom prst="rect">
            <a:avLst/>
          </a:prstGeom>
        </p:spPr>
        <p:txBody>
          <a:bodyPr lIns="0" tIns="0" rIns="0" bIns="0"/>
          <a:lstStyle/>
          <a:p>
            <a:pPr>
              <a:defRPr sz="1350" b="1">
                <a:solidFill>
                  <a:srgbClr val="102030"/>
                </a:solidFill>
              </a:defRPr>
            </a:pPr>
            <a:r>
              <a:rPr sz="2000" b="1" dirty="0">
                <a:solidFill>
                  <a:srgbClr val="102030"/>
                </a:solidFill>
              </a:rPr>
              <a:t>Current state snapshot</a:t>
            </a:r>
          </a:p>
        </p:txBody>
      </p:sp>
      <p:sp>
        <p:nvSpPr>
          <p:cNvPr id="22" name="Rectangle 21">
            <a:extLst>
              <a:ext uri="{FF2B5EF4-FFF2-40B4-BE49-F238E27FC236}">
                <a16:creationId xmlns:a16="http://schemas.microsoft.com/office/drawing/2014/main" id="{A5AA1D76-B9C5-43D9-AB16-7FC15F83535C}"/>
              </a:ext>
            </a:extLst>
          </p:cNvPr>
          <p:cNvSpPr>
            <a:spLocks noGrp="1"/>
          </p:cNvSpPr>
          <p:nvPr/>
        </p:nvSpPr>
        <p:spPr>
          <a:xfrm>
            <a:off x="11511187" y="3523921"/>
            <a:ext cx="5648598" cy="662290"/>
          </a:xfrm>
          <a:prstGeom prst="rect">
            <a:avLst/>
          </a:prstGeom>
        </p:spPr>
        <p:txBody>
          <a:bodyPr lIns="0" tIns="0" rIns="0" bIns="0"/>
          <a:lstStyle/>
          <a:p>
            <a:pPr>
              <a:defRPr sz="1125">
                <a:solidFill>
                  <a:srgbClr val="415A77"/>
                </a:solidFill>
              </a:defRPr>
            </a:pPr>
            <a:r>
              <a:rPr sz="1400" dirty="0">
                <a:solidFill>
                  <a:srgbClr val="415A77"/>
                </a:solidFill>
              </a:rPr>
              <a:t>As of 2026-05-01 the latest tract-state mix is 59 Stable, 10 Improving, 9 Chronic Distress, 7 Emerging Risk, and 5 Rapid Deterioration. That is the current-condition context the hotspot pages start from.</a:t>
            </a:r>
          </a:p>
        </p:txBody>
      </p:sp>
      <p:sp>
        <p:nvSpPr>
          <p:cNvPr id="23" name="state-mix-panel">
            <a:extLst>
              <a:ext uri="{FF2B5EF4-FFF2-40B4-BE49-F238E27FC236}">
                <a16:creationId xmlns:a16="http://schemas.microsoft.com/office/drawing/2014/main" id="{01BAC64A-14DF-4DA9-8EE8-C54B84BE6527}"/>
              </a:ext>
            </a:extLst>
          </p:cNvPr>
          <p:cNvSpPr>
            <a:spLocks noGrp="1"/>
          </p:cNvSpPr>
          <p:nvPr/>
        </p:nvSpPr>
        <p:spPr>
          <a:xfrm>
            <a:off x="11368585" y="4711253"/>
            <a:ext cx="6081215" cy="2237615"/>
          </a:xfrm>
          <a:prstGeom prst="rect">
            <a:avLst/>
          </a:prstGeom>
          <a:solidFill>
            <a:srgbClr val="EEE7DE"/>
          </a:solidFill>
        </p:spPr>
        <p:txBody>
          <a:bodyPr/>
          <a:lstStyle/>
          <a:p>
            <a:endParaRPr lang="en-US"/>
          </a:p>
        </p:txBody>
      </p:sp>
      <p:sp>
        <p:nvSpPr>
          <p:cNvPr id="24" name="Rectangle 23">
            <a:extLst>
              <a:ext uri="{FF2B5EF4-FFF2-40B4-BE49-F238E27FC236}">
                <a16:creationId xmlns:a16="http://schemas.microsoft.com/office/drawing/2014/main" id="{0A275F53-294C-4785-8E22-EBBFDDC48AD3}"/>
              </a:ext>
            </a:extLst>
          </p:cNvPr>
          <p:cNvSpPr>
            <a:spLocks noGrp="1"/>
          </p:cNvSpPr>
          <p:nvPr/>
        </p:nvSpPr>
        <p:spPr>
          <a:xfrm>
            <a:off x="11511187" y="4800600"/>
            <a:ext cx="5786213" cy="342900"/>
          </a:xfrm>
          <a:prstGeom prst="rect">
            <a:avLst/>
          </a:prstGeom>
        </p:spPr>
        <p:txBody>
          <a:bodyPr lIns="0" tIns="0" rIns="0" bIns="0"/>
          <a:lstStyle/>
          <a:p>
            <a:pPr>
              <a:defRPr sz="1350" b="1">
                <a:solidFill>
                  <a:srgbClr val="102030"/>
                </a:solidFill>
              </a:defRPr>
            </a:pPr>
            <a:r>
              <a:rPr sz="1600" b="1" dirty="0">
                <a:solidFill>
                  <a:srgbClr val="102030"/>
                </a:solidFill>
              </a:rPr>
              <a:t>Latest tract-state counts</a:t>
            </a:r>
          </a:p>
        </p:txBody>
      </p:sp>
      <p:sp>
        <p:nvSpPr>
          <p:cNvPr id="25" name="Rectangle 24">
            <a:extLst>
              <a:ext uri="{FF2B5EF4-FFF2-40B4-BE49-F238E27FC236}">
                <a16:creationId xmlns:a16="http://schemas.microsoft.com/office/drawing/2014/main" id="{B59F55F9-A4B4-41F1-BF3C-6D0C46D7C142}"/>
              </a:ext>
            </a:extLst>
          </p:cNvPr>
          <p:cNvSpPr>
            <a:spLocks noGrp="1"/>
          </p:cNvSpPr>
          <p:nvPr/>
        </p:nvSpPr>
        <p:spPr>
          <a:xfrm>
            <a:off x="11582895" y="5105238"/>
            <a:ext cx="5614763" cy="252800"/>
          </a:xfrm>
          <a:prstGeom prst="rect">
            <a:avLst/>
          </a:prstGeom>
        </p:spPr>
        <p:txBody>
          <a:bodyPr lIns="0" tIns="0" rIns="0" bIns="0"/>
          <a:lstStyle/>
          <a:p>
            <a:pPr>
              <a:defRPr sz="1275">
                <a:solidFill>
                  <a:srgbClr val="415A77"/>
                </a:solidFill>
              </a:defRPr>
            </a:pPr>
            <a:r>
              <a:rPr sz="1600" dirty="0">
                <a:solidFill>
                  <a:srgbClr val="415A77"/>
                </a:solidFill>
              </a:rPr>
              <a:t>Stable</a:t>
            </a:r>
          </a:p>
        </p:txBody>
      </p:sp>
      <p:sp>
        <p:nvSpPr>
          <p:cNvPr id="26" name="Rectangle 25">
            <a:extLst>
              <a:ext uri="{FF2B5EF4-FFF2-40B4-BE49-F238E27FC236}">
                <a16:creationId xmlns:a16="http://schemas.microsoft.com/office/drawing/2014/main" id="{BC6CE965-B8DF-4F5B-B4FC-271E97D8FA77}"/>
              </a:ext>
            </a:extLst>
          </p:cNvPr>
          <p:cNvSpPr>
            <a:spLocks noGrp="1"/>
          </p:cNvSpPr>
          <p:nvPr/>
        </p:nvSpPr>
        <p:spPr>
          <a:xfrm>
            <a:off x="14193322" y="5102999"/>
            <a:ext cx="284328" cy="222251"/>
          </a:xfrm>
          <a:prstGeom prst="rect">
            <a:avLst/>
          </a:prstGeom>
        </p:spPr>
        <p:txBody>
          <a:bodyPr lIns="0" tIns="0" rIns="0" bIns="0"/>
          <a:lstStyle/>
          <a:p>
            <a:pPr>
              <a:defRPr sz="1275" b="1">
                <a:solidFill>
                  <a:srgbClr val="102030"/>
                </a:solidFill>
              </a:defRPr>
            </a:pPr>
            <a:r>
              <a:rPr sz="1600" b="1" dirty="0">
                <a:solidFill>
                  <a:srgbClr val="102030"/>
                </a:solidFill>
              </a:rPr>
              <a:t>59</a:t>
            </a:r>
          </a:p>
        </p:txBody>
      </p:sp>
      <p:sp>
        <p:nvSpPr>
          <p:cNvPr id="27" name="Rectangle 26">
            <a:extLst>
              <a:ext uri="{FF2B5EF4-FFF2-40B4-BE49-F238E27FC236}">
                <a16:creationId xmlns:a16="http://schemas.microsoft.com/office/drawing/2014/main" id="{DA1DEC98-1CEC-43F3-AC29-2D09F9230CE9}"/>
              </a:ext>
            </a:extLst>
          </p:cNvPr>
          <p:cNvSpPr>
            <a:spLocks noGrp="1"/>
          </p:cNvSpPr>
          <p:nvPr/>
        </p:nvSpPr>
        <p:spPr>
          <a:xfrm>
            <a:off x="11582895" y="5432972"/>
            <a:ext cx="4400550" cy="209550"/>
          </a:xfrm>
          <a:prstGeom prst="rect">
            <a:avLst/>
          </a:prstGeom>
        </p:spPr>
        <p:txBody>
          <a:bodyPr lIns="0" tIns="0" rIns="0" bIns="0"/>
          <a:lstStyle/>
          <a:p>
            <a:pPr>
              <a:defRPr sz="1275">
                <a:solidFill>
                  <a:srgbClr val="415A77"/>
                </a:solidFill>
              </a:defRPr>
            </a:pPr>
            <a:r>
              <a:rPr sz="1600" dirty="0">
                <a:solidFill>
                  <a:srgbClr val="415A77"/>
                </a:solidFill>
              </a:rPr>
              <a:t>Improving</a:t>
            </a:r>
          </a:p>
        </p:txBody>
      </p:sp>
      <p:sp>
        <p:nvSpPr>
          <p:cNvPr id="28" name="Rectangle 27">
            <a:extLst>
              <a:ext uri="{FF2B5EF4-FFF2-40B4-BE49-F238E27FC236}">
                <a16:creationId xmlns:a16="http://schemas.microsoft.com/office/drawing/2014/main" id="{5DB7B8E0-A96D-464B-8901-E5D5AE496650}"/>
              </a:ext>
            </a:extLst>
          </p:cNvPr>
          <p:cNvSpPr>
            <a:spLocks noGrp="1"/>
          </p:cNvSpPr>
          <p:nvPr/>
        </p:nvSpPr>
        <p:spPr>
          <a:xfrm>
            <a:off x="14193322" y="5445270"/>
            <a:ext cx="284328" cy="252800"/>
          </a:xfrm>
          <a:prstGeom prst="rect">
            <a:avLst/>
          </a:prstGeom>
        </p:spPr>
        <p:txBody>
          <a:bodyPr lIns="0" tIns="0" rIns="0" bIns="0"/>
          <a:lstStyle/>
          <a:p>
            <a:pPr>
              <a:defRPr sz="1275" b="1">
                <a:solidFill>
                  <a:srgbClr val="102030"/>
                </a:solidFill>
              </a:defRPr>
            </a:pPr>
            <a:r>
              <a:rPr sz="1600" b="1" dirty="0">
                <a:solidFill>
                  <a:srgbClr val="102030"/>
                </a:solidFill>
              </a:rPr>
              <a:t>10</a:t>
            </a:r>
          </a:p>
        </p:txBody>
      </p:sp>
      <p:sp>
        <p:nvSpPr>
          <p:cNvPr id="29" name="Rectangle 28">
            <a:extLst>
              <a:ext uri="{FF2B5EF4-FFF2-40B4-BE49-F238E27FC236}">
                <a16:creationId xmlns:a16="http://schemas.microsoft.com/office/drawing/2014/main" id="{C5B07C59-51AE-4459-BB2F-76D3E563E37A}"/>
              </a:ext>
            </a:extLst>
          </p:cNvPr>
          <p:cNvSpPr>
            <a:spLocks noGrp="1"/>
          </p:cNvSpPr>
          <p:nvPr/>
        </p:nvSpPr>
        <p:spPr>
          <a:xfrm>
            <a:off x="11582895" y="5748835"/>
            <a:ext cx="4495800" cy="209550"/>
          </a:xfrm>
          <a:prstGeom prst="rect">
            <a:avLst/>
          </a:prstGeom>
        </p:spPr>
        <p:txBody>
          <a:bodyPr lIns="0" tIns="0" rIns="0" bIns="0"/>
          <a:lstStyle/>
          <a:p>
            <a:pPr>
              <a:defRPr sz="1275">
                <a:solidFill>
                  <a:srgbClr val="415A77"/>
                </a:solidFill>
              </a:defRPr>
            </a:pPr>
            <a:r>
              <a:rPr sz="1600" dirty="0">
                <a:solidFill>
                  <a:srgbClr val="415A77"/>
                </a:solidFill>
              </a:rPr>
              <a:t>Chronic Distress</a:t>
            </a:r>
          </a:p>
        </p:txBody>
      </p:sp>
      <p:sp>
        <p:nvSpPr>
          <p:cNvPr id="30" name="Rectangle 29">
            <a:extLst>
              <a:ext uri="{FF2B5EF4-FFF2-40B4-BE49-F238E27FC236}">
                <a16:creationId xmlns:a16="http://schemas.microsoft.com/office/drawing/2014/main" id="{C830A6F4-8E03-4278-801C-3874AFA892A1}"/>
              </a:ext>
            </a:extLst>
          </p:cNvPr>
          <p:cNvSpPr>
            <a:spLocks noGrp="1"/>
          </p:cNvSpPr>
          <p:nvPr/>
        </p:nvSpPr>
        <p:spPr>
          <a:xfrm>
            <a:off x="14262907" y="5775182"/>
            <a:ext cx="295133" cy="273335"/>
          </a:xfrm>
          <a:prstGeom prst="rect">
            <a:avLst/>
          </a:prstGeom>
        </p:spPr>
        <p:txBody>
          <a:bodyPr lIns="0" tIns="0" rIns="0" bIns="0"/>
          <a:lstStyle/>
          <a:p>
            <a:pPr>
              <a:defRPr sz="1275" b="1">
                <a:solidFill>
                  <a:srgbClr val="102030"/>
                </a:solidFill>
              </a:defRPr>
            </a:pPr>
            <a:r>
              <a:rPr sz="1600" b="1" dirty="0">
                <a:solidFill>
                  <a:srgbClr val="102030"/>
                </a:solidFill>
              </a:rPr>
              <a:t>9</a:t>
            </a:r>
          </a:p>
        </p:txBody>
      </p:sp>
      <p:sp>
        <p:nvSpPr>
          <p:cNvPr id="31" name="Rectangle 30">
            <a:extLst>
              <a:ext uri="{FF2B5EF4-FFF2-40B4-BE49-F238E27FC236}">
                <a16:creationId xmlns:a16="http://schemas.microsoft.com/office/drawing/2014/main" id="{C34BC9CB-2443-4884-9A2D-7FCB0C458EB1}"/>
              </a:ext>
            </a:extLst>
          </p:cNvPr>
          <p:cNvSpPr>
            <a:spLocks noGrp="1"/>
          </p:cNvSpPr>
          <p:nvPr/>
        </p:nvSpPr>
        <p:spPr>
          <a:xfrm>
            <a:off x="11582895" y="6058536"/>
            <a:ext cx="4495800" cy="209550"/>
          </a:xfrm>
          <a:prstGeom prst="rect">
            <a:avLst/>
          </a:prstGeom>
        </p:spPr>
        <p:txBody>
          <a:bodyPr lIns="0" tIns="0" rIns="0" bIns="0"/>
          <a:lstStyle/>
          <a:p>
            <a:pPr>
              <a:defRPr sz="1275">
                <a:solidFill>
                  <a:srgbClr val="415A77"/>
                </a:solidFill>
              </a:defRPr>
            </a:pPr>
            <a:r>
              <a:rPr sz="1600" dirty="0">
                <a:solidFill>
                  <a:srgbClr val="415A77"/>
                </a:solidFill>
              </a:rPr>
              <a:t>Emerging Risk</a:t>
            </a:r>
          </a:p>
        </p:txBody>
      </p:sp>
      <p:sp>
        <p:nvSpPr>
          <p:cNvPr id="32" name="Rectangle 31">
            <a:extLst>
              <a:ext uri="{FF2B5EF4-FFF2-40B4-BE49-F238E27FC236}">
                <a16:creationId xmlns:a16="http://schemas.microsoft.com/office/drawing/2014/main" id="{D734CDDE-F847-4845-9E91-3D3281CB832E}"/>
              </a:ext>
            </a:extLst>
          </p:cNvPr>
          <p:cNvSpPr>
            <a:spLocks noGrp="1"/>
          </p:cNvSpPr>
          <p:nvPr/>
        </p:nvSpPr>
        <p:spPr>
          <a:xfrm flipH="1">
            <a:off x="14244283" y="6081803"/>
            <a:ext cx="295132" cy="259508"/>
          </a:xfrm>
          <a:prstGeom prst="rect">
            <a:avLst/>
          </a:prstGeom>
        </p:spPr>
        <p:txBody>
          <a:bodyPr lIns="0" tIns="0" rIns="0" bIns="0"/>
          <a:lstStyle/>
          <a:p>
            <a:pPr>
              <a:defRPr sz="1275" b="1">
                <a:solidFill>
                  <a:srgbClr val="102030"/>
                </a:solidFill>
              </a:defRPr>
            </a:pPr>
            <a:r>
              <a:rPr sz="1600" b="1" dirty="0">
                <a:solidFill>
                  <a:srgbClr val="102030"/>
                </a:solidFill>
              </a:rPr>
              <a:t>7</a:t>
            </a:r>
          </a:p>
        </p:txBody>
      </p:sp>
      <p:sp>
        <p:nvSpPr>
          <p:cNvPr id="33" name="Rectangle 32">
            <a:extLst>
              <a:ext uri="{FF2B5EF4-FFF2-40B4-BE49-F238E27FC236}">
                <a16:creationId xmlns:a16="http://schemas.microsoft.com/office/drawing/2014/main" id="{B23B85B1-89F0-4267-86DA-A62A9C33B1C4}"/>
              </a:ext>
            </a:extLst>
          </p:cNvPr>
          <p:cNvSpPr>
            <a:spLocks noGrp="1"/>
          </p:cNvSpPr>
          <p:nvPr/>
        </p:nvSpPr>
        <p:spPr>
          <a:xfrm>
            <a:off x="11582895" y="6391911"/>
            <a:ext cx="4495800" cy="209550"/>
          </a:xfrm>
          <a:prstGeom prst="rect">
            <a:avLst/>
          </a:prstGeom>
        </p:spPr>
        <p:txBody>
          <a:bodyPr lIns="0" tIns="0" rIns="0" bIns="0"/>
          <a:lstStyle/>
          <a:p>
            <a:pPr>
              <a:defRPr sz="1275">
                <a:solidFill>
                  <a:srgbClr val="415A77"/>
                </a:solidFill>
              </a:defRPr>
            </a:pPr>
            <a:r>
              <a:rPr sz="1600" dirty="0">
                <a:solidFill>
                  <a:srgbClr val="415A77"/>
                </a:solidFill>
              </a:rPr>
              <a:t>Rapid Deterioration</a:t>
            </a:r>
          </a:p>
        </p:txBody>
      </p:sp>
      <p:sp>
        <p:nvSpPr>
          <p:cNvPr id="34" name="Rectangle 33">
            <a:extLst>
              <a:ext uri="{FF2B5EF4-FFF2-40B4-BE49-F238E27FC236}">
                <a16:creationId xmlns:a16="http://schemas.microsoft.com/office/drawing/2014/main" id="{FDAE2D3F-DF70-4876-895D-F91597A2FF60}"/>
              </a:ext>
            </a:extLst>
          </p:cNvPr>
          <p:cNvSpPr>
            <a:spLocks noGrp="1"/>
          </p:cNvSpPr>
          <p:nvPr/>
        </p:nvSpPr>
        <p:spPr>
          <a:xfrm>
            <a:off x="14236322" y="6404364"/>
            <a:ext cx="76200" cy="209550"/>
          </a:xfrm>
          <a:prstGeom prst="rect">
            <a:avLst/>
          </a:prstGeom>
        </p:spPr>
        <p:txBody>
          <a:bodyPr lIns="0" tIns="0" rIns="0" bIns="0"/>
          <a:lstStyle/>
          <a:p>
            <a:pPr>
              <a:defRPr sz="1275" b="1">
                <a:solidFill>
                  <a:srgbClr val="102030"/>
                </a:solidFill>
              </a:defRPr>
            </a:pPr>
            <a:r>
              <a:rPr sz="1600" b="1" dirty="0">
                <a:solidFill>
                  <a:srgbClr val="102030"/>
                </a:solidFill>
              </a:rPr>
              <a:t>5</a:t>
            </a:r>
          </a:p>
        </p:txBody>
      </p:sp>
      <p:sp>
        <p:nvSpPr>
          <p:cNvPr id="35" name="Mind the two score sets-panel">
            <a:extLst>
              <a:ext uri="{FF2B5EF4-FFF2-40B4-BE49-F238E27FC236}">
                <a16:creationId xmlns:a16="http://schemas.microsoft.com/office/drawing/2014/main" id="{2C7DCFEA-1CFB-40D7-A687-1B7229E5E967}"/>
              </a:ext>
            </a:extLst>
          </p:cNvPr>
          <p:cNvSpPr>
            <a:spLocks noGrp="1"/>
          </p:cNvSpPr>
          <p:nvPr/>
        </p:nvSpPr>
        <p:spPr>
          <a:xfrm>
            <a:off x="11368585" y="7253785"/>
            <a:ext cx="6119315" cy="1581150"/>
          </a:xfrm>
          <a:prstGeom prst="rect">
            <a:avLst/>
          </a:prstGeom>
          <a:solidFill>
            <a:srgbClr val="F3DEDB"/>
          </a:solidFill>
        </p:spPr>
        <p:txBody>
          <a:bodyPr/>
          <a:lstStyle/>
          <a:p>
            <a:endParaRPr lang="en-US"/>
          </a:p>
        </p:txBody>
      </p:sp>
      <p:sp>
        <p:nvSpPr>
          <p:cNvPr id="36" name="Rectangle 35">
            <a:extLst>
              <a:ext uri="{FF2B5EF4-FFF2-40B4-BE49-F238E27FC236}">
                <a16:creationId xmlns:a16="http://schemas.microsoft.com/office/drawing/2014/main" id="{B44D006B-CF4A-423B-9527-F89CF6468994}"/>
              </a:ext>
            </a:extLst>
          </p:cNvPr>
          <p:cNvSpPr>
            <a:spLocks noGrp="1"/>
          </p:cNvSpPr>
          <p:nvPr/>
        </p:nvSpPr>
        <p:spPr>
          <a:xfrm>
            <a:off x="11648802" y="7415260"/>
            <a:ext cx="5648598" cy="252800"/>
          </a:xfrm>
          <a:prstGeom prst="rect">
            <a:avLst/>
          </a:prstGeom>
        </p:spPr>
        <p:txBody>
          <a:bodyPr lIns="0" tIns="0" rIns="0" bIns="0"/>
          <a:lstStyle/>
          <a:p>
            <a:pPr>
              <a:defRPr sz="1350" b="1">
                <a:solidFill>
                  <a:srgbClr val="102030"/>
                </a:solidFill>
              </a:defRPr>
            </a:pPr>
            <a:r>
              <a:rPr sz="1600" b="1" dirty="0">
                <a:solidFill>
                  <a:srgbClr val="102030"/>
                </a:solidFill>
              </a:rPr>
              <a:t>Mind the two score sets</a:t>
            </a:r>
          </a:p>
        </p:txBody>
      </p:sp>
      <p:sp>
        <p:nvSpPr>
          <p:cNvPr id="37" name="Rectangle 36">
            <a:extLst>
              <a:ext uri="{FF2B5EF4-FFF2-40B4-BE49-F238E27FC236}">
                <a16:creationId xmlns:a16="http://schemas.microsoft.com/office/drawing/2014/main" id="{3B0EA87F-34F9-47E4-AE88-BFCFC57122FD}"/>
              </a:ext>
            </a:extLst>
          </p:cNvPr>
          <p:cNvSpPr>
            <a:spLocks noGrp="1"/>
          </p:cNvSpPr>
          <p:nvPr/>
        </p:nvSpPr>
        <p:spPr>
          <a:xfrm>
            <a:off x="11648802" y="7714795"/>
            <a:ext cx="5648598" cy="827346"/>
          </a:xfrm>
          <a:prstGeom prst="rect">
            <a:avLst/>
          </a:prstGeom>
        </p:spPr>
        <p:txBody>
          <a:bodyPr lIns="0" tIns="0" rIns="0" bIns="0"/>
          <a:lstStyle/>
          <a:p>
            <a:pPr>
              <a:defRPr sz="1125">
                <a:solidFill>
                  <a:srgbClr val="415A77"/>
                </a:solidFill>
              </a:defRPr>
            </a:pPr>
            <a:r>
              <a:rPr sz="1600" dirty="0">
                <a:solidFill>
                  <a:srgbClr val="415A77"/>
                </a:solidFill>
              </a:rPr>
              <a:t>The app now carries both </a:t>
            </a:r>
            <a:r>
              <a:rPr sz="1600" dirty="0" err="1">
                <a:solidFill>
                  <a:srgbClr val="415A77"/>
                </a:solidFill>
              </a:rPr>
              <a:t>live_scoring</a:t>
            </a:r>
            <a:r>
              <a:rPr sz="1600" dirty="0">
                <a:solidFill>
                  <a:srgbClr val="415A77"/>
                </a:solidFill>
              </a:rPr>
              <a:t> rows and </a:t>
            </a:r>
            <a:r>
              <a:rPr sz="1600" dirty="0" err="1">
                <a:solidFill>
                  <a:srgbClr val="415A77"/>
                </a:solidFill>
              </a:rPr>
              <a:t>holdout_backtest</a:t>
            </a:r>
            <a:r>
              <a:rPr sz="1600" dirty="0">
                <a:solidFill>
                  <a:srgbClr val="415A77"/>
                </a:solidFill>
              </a:rPr>
              <a:t> rows. Live forecast pages are current through 2026-05-01, while historical </a:t>
            </a:r>
            <a:r>
              <a:rPr sz="1600" dirty="0" err="1">
                <a:solidFill>
                  <a:srgbClr val="415A77"/>
                </a:solidFill>
              </a:rPr>
              <a:t>backtest</a:t>
            </a:r>
            <a:r>
              <a:rPr sz="1600" dirty="0">
                <a:solidFill>
                  <a:srgbClr val="415A77"/>
                </a:solidFill>
              </a:rPr>
              <a:t> rows through 2025-05-01 remain useful for explaining how the model behaved before outcomes were known.</a:t>
            </a:r>
          </a:p>
        </p:txBody>
      </p:sp>
      <p:sp>
        <p:nvSpPr>
          <p:cNvPr id="38" name="footer">
            <a:extLst>
              <a:ext uri="{FF2B5EF4-FFF2-40B4-BE49-F238E27FC236}">
                <a16:creationId xmlns:a16="http://schemas.microsoft.com/office/drawing/2014/main" id="{90FC13A2-E0F2-43CC-A8DE-47A19EC76DBF}"/>
              </a:ext>
            </a:extLst>
          </p:cNvPr>
          <p:cNvSpPr>
            <a:spLocks noGrp="1"/>
          </p:cNvSpPr>
          <p:nvPr/>
        </p:nvSpPr>
        <p:spPr>
          <a:xfrm>
            <a:off x="800100" y="9467850"/>
            <a:ext cx="16687800" cy="152400"/>
          </a:xfrm>
          <a:prstGeom prst="rect">
            <a:avLst/>
          </a:prstGeom>
        </p:spPr>
        <p:txBody>
          <a:bodyPr lIns="0" tIns="0" rIns="0" bIns="0"/>
          <a:lstStyle/>
          <a:p>
            <a:pPr>
              <a:defRPr sz="900">
                <a:solidFill>
                  <a:srgbClr val="66778A"/>
                </a:solidFill>
              </a:defRPr>
            </a:pPr>
            <a:r>
              <a:rPr sz="900">
                <a:solidFill>
                  <a:srgbClr val="66778A"/>
                </a:solidFill>
              </a:rPr>
              <a:t>Source: analytics.tract_state_history and analytics.tract_forecast_scores in the app database.</a:t>
            </a:r>
          </a:p>
        </p:txBody>
      </p:sp>
    </p:spTree>
    <p:extLst>
      <p:ext uri="{BB962C8B-B14F-4D97-AF65-F5344CB8AC3E}">
        <p14:creationId xmlns:p14="http://schemas.microsoft.com/office/powerpoint/2010/main" val="1806002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background">
            <a:extLst>
              <a:ext uri="{FF2B5EF4-FFF2-40B4-BE49-F238E27FC236}">
                <a16:creationId xmlns:a16="http://schemas.microsoft.com/office/drawing/2014/main" id="{BE885903-1E26-4D1F-B21D-34338F655313}"/>
              </a:ext>
            </a:extLst>
          </p:cNvPr>
          <p:cNvSpPr>
            <a:spLocks noGrp="1"/>
          </p:cNvSpPr>
          <p:nvPr/>
        </p:nvSpPr>
        <p:spPr>
          <a:xfrm>
            <a:off x="0" y="0"/>
            <a:ext cx="18288000" cy="10287000"/>
          </a:xfrm>
          <a:prstGeom prst="rect">
            <a:avLst/>
          </a:prstGeom>
          <a:solidFill>
            <a:srgbClr val="F6F3EE"/>
          </a:solidFill>
        </p:spPr>
        <p:txBody>
          <a:bodyPr/>
          <a:lstStyle/>
          <a:p>
            <a:endParaRPr lang="en-US"/>
          </a:p>
        </p:txBody>
      </p:sp>
      <p:sp>
        <p:nvSpPr>
          <p:cNvPr id="2" name="kicker">
            <a:extLst>
              <a:ext uri="{FF2B5EF4-FFF2-40B4-BE49-F238E27FC236}">
                <a16:creationId xmlns:a16="http://schemas.microsoft.com/office/drawing/2014/main" id="{7D62DBCD-8B36-4A2B-94A7-27E2E546A84F}"/>
              </a:ext>
            </a:extLst>
          </p:cNvPr>
          <p:cNvSpPr>
            <a:spLocks noGrp="1"/>
          </p:cNvSpPr>
          <p:nvPr/>
        </p:nvSpPr>
        <p:spPr>
          <a:xfrm>
            <a:off x="800100" y="666750"/>
            <a:ext cx="1390650" cy="209550"/>
          </a:xfrm>
          <a:prstGeom prst="rect">
            <a:avLst/>
          </a:prstGeom>
        </p:spPr>
        <p:txBody>
          <a:bodyPr lIns="0" tIns="0" rIns="0" bIns="0"/>
          <a:lstStyle/>
          <a:p>
            <a:pPr>
              <a:defRPr sz="1350" b="1">
                <a:solidFill>
                  <a:srgbClr val="2A7F8C"/>
                </a:solidFill>
              </a:defRPr>
            </a:pPr>
            <a:r>
              <a:rPr sz="1350" b="1">
                <a:solidFill>
                  <a:srgbClr val="2A7F8C"/>
                </a:solidFill>
              </a:rPr>
              <a:t>HOTSPOT ANALYSIS</a:t>
            </a:r>
          </a:p>
        </p:txBody>
      </p:sp>
      <p:sp>
        <p:nvSpPr>
          <p:cNvPr id="3" name="title">
            <a:extLst>
              <a:ext uri="{FF2B5EF4-FFF2-40B4-BE49-F238E27FC236}">
                <a16:creationId xmlns:a16="http://schemas.microsoft.com/office/drawing/2014/main" id="{1FBD18EB-F710-4C68-8E0B-A7C5E020D318}"/>
              </a:ext>
            </a:extLst>
          </p:cNvPr>
          <p:cNvSpPr>
            <a:spLocks noGrp="1"/>
          </p:cNvSpPr>
          <p:nvPr/>
        </p:nvSpPr>
        <p:spPr>
          <a:xfrm>
            <a:off x="800100" y="1009650"/>
            <a:ext cx="10706100" cy="1333500"/>
          </a:xfrm>
          <a:prstGeom prst="rect">
            <a:avLst/>
          </a:prstGeom>
        </p:spPr>
        <p:txBody>
          <a:bodyPr lIns="0" tIns="0" rIns="0" bIns="0"/>
          <a:lstStyle/>
          <a:p>
            <a:pPr>
              <a:defRPr sz="4350" b="1">
                <a:solidFill>
                  <a:srgbClr val="102030"/>
                </a:solidFill>
              </a:defRPr>
            </a:pPr>
            <a:r>
              <a:rPr sz="4350" b="1">
                <a:solidFill>
                  <a:srgbClr val="102030"/>
                </a:solidFill>
              </a:rPr>
              <a:t>Start with what is already visible in the current neighborhood condition data.</a:t>
            </a:r>
          </a:p>
        </p:txBody>
      </p:sp>
      <p:sp>
        <p:nvSpPr>
          <p:cNvPr id="4" name="subtitle">
            <a:extLst>
              <a:ext uri="{FF2B5EF4-FFF2-40B4-BE49-F238E27FC236}">
                <a16:creationId xmlns:a16="http://schemas.microsoft.com/office/drawing/2014/main" id="{988FC987-7EEB-4342-B7BA-72DD5B2EDC70}"/>
              </a:ext>
            </a:extLst>
          </p:cNvPr>
          <p:cNvSpPr>
            <a:spLocks noGrp="1"/>
          </p:cNvSpPr>
          <p:nvPr/>
        </p:nvSpPr>
        <p:spPr>
          <a:xfrm>
            <a:off x="800100" y="2457450"/>
            <a:ext cx="10077450" cy="571500"/>
          </a:xfrm>
          <a:prstGeom prst="rect">
            <a:avLst/>
          </a:prstGeom>
        </p:spPr>
        <p:txBody>
          <a:bodyPr lIns="0" tIns="0" rIns="0" bIns="0"/>
          <a:lstStyle/>
          <a:p>
            <a:pPr>
              <a:defRPr sz="1875">
                <a:solidFill>
                  <a:srgbClr val="415A77"/>
                </a:solidFill>
              </a:defRPr>
            </a:pPr>
            <a:r>
              <a:rPr sz="1875">
                <a:solidFill>
                  <a:srgbClr val="415A77"/>
                </a:solidFill>
              </a:rPr>
              <a:t>This page is the best first pass for asking where distress is already concentrated, persistent, or escalating.</a:t>
            </a:r>
          </a:p>
        </p:txBody>
      </p:sp>
      <p:pic>
        <p:nvPicPr>
          <p:cNvPr id="5" name="hotspots-chart"/>
          <p:cNvPicPr>
            <a:picLocks noChangeAspect="1"/>
          </p:cNvPicPr>
          <p:nvPr/>
        </p:nvPicPr>
        <p:blipFill>
          <a:blip r:embed="rId3"/>
          <a:stretch/>
        </p:blipFill>
        <p:spPr>
          <a:xfrm>
            <a:off x="800100" y="3516659"/>
            <a:ext cx="9334500" cy="5383472"/>
          </a:xfrm>
          <a:prstGeom prst="rect">
            <a:avLst/>
          </a:prstGeom>
        </p:spPr>
      </p:pic>
      <p:sp>
        <p:nvSpPr>
          <p:cNvPr id="6" name="Rectangle 5">
            <a:extLst>
              <a:ext uri="{FF2B5EF4-FFF2-40B4-BE49-F238E27FC236}">
                <a16:creationId xmlns:a16="http://schemas.microsoft.com/office/drawing/2014/main" id="{F47FD17B-DFA2-49A7-84A3-7EE7839FFD03}"/>
              </a:ext>
            </a:extLst>
          </p:cNvPr>
          <p:cNvSpPr>
            <a:spLocks noGrp="1"/>
          </p:cNvSpPr>
          <p:nvPr/>
        </p:nvSpPr>
        <p:spPr>
          <a:xfrm>
            <a:off x="10515600" y="3295650"/>
            <a:ext cx="3752850" cy="685800"/>
          </a:xfrm>
          <a:prstGeom prst="rect">
            <a:avLst/>
          </a:prstGeom>
        </p:spPr>
        <p:txBody>
          <a:bodyPr lIns="0" tIns="0" rIns="0" bIns="0"/>
          <a:lstStyle/>
          <a:p>
            <a:pPr>
              <a:defRPr sz="2250" b="1">
                <a:solidFill>
                  <a:srgbClr val="102030"/>
                </a:solidFill>
              </a:defRPr>
            </a:pPr>
            <a:r>
              <a:rPr sz="2250" b="1">
                <a:solidFill>
                  <a:srgbClr val="102030"/>
                </a:solidFill>
              </a:rPr>
              <a:t>What the current snapshot says</a:t>
            </a:r>
          </a:p>
        </p:txBody>
      </p:sp>
      <p:sp>
        <p:nvSpPr>
          <p:cNvPr id="7" name="bullet-1">
            <a:extLst>
              <a:ext uri="{FF2B5EF4-FFF2-40B4-BE49-F238E27FC236}">
                <a16:creationId xmlns:a16="http://schemas.microsoft.com/office/drawing/2014/main" id="{E4864228-75B2-4CE0-874C-08922CDFF119}"/>
              </a:ext>
            </a:extLst>
          </p:cNvPr>
          <p:cNvSpPr>
            <a:spLocks noGrp="1"/>
          </p:cNvSpPr>
          <p:nvPr/>
        </p:nvSpPr>
        <p:spPr>
          <a:xfrm>
            <a:off x="10515600" y="4114800"/>
            <a:ext cx="4933950" cy="723900"/>
          </a:xfrm>
          <a:prstGeom prst="rect">
            <a:avLst/>
          </a:prstGeom>
        </p:spPr>
        <p:txBody>
          <a:bodyPr lIns="0" tIns="0" rIns="0" bIns="0"/>
          <a:lstStyle/>
          <a:p>
            <a:pPr>
              <a:defRPr sz="1575">
                <a:solidFill>
                  <a:srgbClr val="102030"/>
                </a:solidFill>
              </a:defRPr>
            </a:pPr>
            <a:r>
              <a:rPr sz="1575">
                <a:solidFill>
                  <a:srgbClr val="102030"/>
                </a:solidFill>
              </a:rPr>
              <a:t>• Hamlin Park tract 36029005202 is the strongest current hotspot at a combined trajectory score of 98.3 and is already classified as Rapid Deterioration.</a:t>
            </a:r>
          </a:p>
        </p:txBody>
      </p:sp>
      <p:sp>
        <p:nvSpPr>
          <p:cNvPr id="8" name="bullet-2">
            <a:extLst>
              <a:ext uri="{FF2B5EF4-FFF2-40B4-BE49-F238E27FC236}">
                <a16:creationId xmlns:a16="http://schemas.microsoft.com/office/drawing/2014/main" id="{455B18D2-2224-4544-97D5-E2BA793B7AF9}"/>
              </a:ext>
            </a:extLst>
          </p:cNvPr>
          <p:cNvSpPr>
            <a:spLocks noGrp="1"/>
          </p:cNvSpPr>
          <p:nvPr/>
        </p:nvSpPr>
        <p:spPr>
          <a:xfrm>
            <a:off x="10515600" y="4972050"/>
            <a:ext cx="4914900" cy="723900"/>
          </a:xfrm>
          <a:prstGeom prst="rect">
            <a:avLst/>
          </a:prstGeom>
        </p:spPr>
        <p:txBody>
          <a:bodyPr lIns="0" tIns="0" rIns="0" bIns="0"/>
          <a:lstStyle/>
          <a:p>
            <a:pPr>
              <a:defRPr sz="1575">
                <a:solidFill>
                  <a:srgbClr val="102030"/>
                </a:solidFill>
              </a:defRPr>
            </a:pPr>
            <a:r>
              <a:rPr sz="1575">
                <a:solidFill>
                  <a:srgbClr val="102030"/>
                </a:solidFill>
              </a:rPr>
              <a:t>• Delavan Grider, Genesee-Moselle, and Masten Park also sit above 91, which means the current-risk list is not a single-tract story.</a:t>
            </a:r>
          </a:p>
        </p:txBody>
      </p:sp>
      <p:sp>
        <p:nvSpPr>
          <p:cNvPr id="9" name="bullet-3">
            <a:extLst>
              <a:ext uri="{FF2B5EF4-FFF2-40B4-BE49-F238E27FC236}">
                <a16:creationId xmlns:a16="http://schemas.microsoft.com/office/drawing/2014/main" id="{72327B6F-B621-497F-897A-F48DC47C8AB0}"/>
              </a:ext>
            </a:extLst>
          </p:cNvPr>
          <p:cNvSpPr>
            <a:spLocks noGrp="1"/>
          </p:cNvSpPr>
          <p:nvPr/>
        </p:nvSpPr>
        <p:spPr>
          <a:xfrm>
            <a:off x="10515600" y="5829300"/>
            <a:ext cx="4933950" cy="971550"/>
          </a:xfrm>
          <a:prstGeom prst="rect">
            <a:avLst/>
          </a:prstGeom>
        </p:spPr>
        <p:txBody>
          <a:bodyPr lIns="0" tIns="0" rIns="0" bIns="0"/>
          <a:lstStyle/>
          <a:p>
            <a:pPr>
              <a:defRPr sz="1575">
                <a:solidFill>
                  <a:srgbClr val="102030"/>
                </a:solidFill>
              </a:defRPr>
            </a:pPr>
            <a:r>
              <a:rPr sz="1575">
                <a:solidFill>
                  <a:srgbClr val="102030"/>
                </a:solidFill>
              </a:rPr>
              <a:t>• Kensington-Bailey, the second Hamlin Park tract, and North Park are not yet in Rapid Deterioration, but they already appear high on the current-risk leaderboard as Emerging Risk tracts.</a:t>
            </a:r>
          </a:p>
        </p:txBody>
      </p:sp>
      <p:sp>
        <p:nvSpPr>
          <p:cNvPr id="10" name="Rectangle 9">
            <a:extLst>
              <a:ext uri="{FF2B5EF4-FFF2-40B4-BE49-F238E27FC236}">
                <a16:creationId xmlns:a16="http://schemas.microsoft.com/office/drawing/2014/main" id="{C5567A7D-D124-482C-BFAF-14785328D9F3}"/>
              </a:ext>
            </a:extLst>
          </p:cNvPr>
          <p:cNvSpPr>
            <a:spLocks noGrp="1"/>
          </p:cNvSpPr>
          <p:nvPr/>
        </p:nvSpPr>
        <p:spPr>
          <a:xfrm>
            <a:off x="10515600" y="6915150"/>
            <a:ext cx="1589964" cy="266700"/>
          </a:xfrm>
          <a:prstGeom prst="rect">
            <a:avLst/>
          </a:prstGeom>
        </p:spPr>
        <p:txBody>
          <a:bodyPr lIns="0" tIns="0" rIns="0" bIns="0"/>
          <a:lstStyle/>
          <a:p>
            <a:pPr>
              <a:defRPr sz="1725" b="1">
                <a:solidFill>
                  <a:srgbClr val="2A7F8C"/>
                </a:solidFill>
              </a:defRPr>
            </a:pPr>
            <a:r>
              <a:rPr sz="1725" b="1" dirty="0">
                <a:solidFill>
                  <a:srgbClr val="2A7F8C"/>
                </a:solidFill>
              </a:rPr>
              <a:t>How to use it</a:t>
            </a:r>
          </a:p>
        </p:txBody>
      </p:sp>
      <p:sp>
        <p:nvSpPr>
          <p:cNvPr id="11" name="bullet-1">
            <a:extLst>
              <a:ext uri="{FF2B5EF4-FFF2-40B4-BE49-F238E27FC236}">
                <a16:creationId xmlns:a16="http://schemas.microsoft.com/office/drawing/2014/main" id="{27F5E605-4F66-4190-B551-9193A9020615}"/>
              </a:ext>
            </a:extLst>
          </p:cNvPr>
          <p:cNvSpPr>
            <a:spLocks noGrp="1"/>
          </p:cNvSpPr>
          <p:nvPr/>
        </p:nvSpPr>
        <p:spPr>
          <a:xfrm>
            <a:off x="10515600" y="7315200"/>
            <a:ext cx="4743450" cy="209550"/>
          </a:xfrm>
          <a:prstGeom prst="rect">
            <a:avLst/>
          </a:prstGeom>
        </p:spPr>
        <p:txBody>
          <a:bodyPr lIns="0" tIns="0" rIns="0" bIns="0"/>
          <a:lstStyle/>
          <a:p>
            <a:pPr>
              <a:defRPr sz="1350">
                <a:solidFill>
                  <a:srgbClr val="102030"/>
                </a:solidFill>
              </a:defRPr>
            </a:pPr>
            <a:r>
              <a:rPr sz="1350">
                <a:solidFill>
                  <a:srgbClr val="102030"/>
                </a:solidFill>
              </a:rPr>
              <a:t>• Sort by trajectory score to find the most concentrated current risk.</a:t>
            </a:r>
          </a:p>
        </p:txBody>
      </p:sp>
      <p:sp>
        <p:nvSpPr>
          <p:cNvPr id="12" name="bullet-2">
            <a:extLst>
              <a:ext uri="{FF2B5EF4-FFF2-40B4-BE49-F238E27FC236}">
                <a16:creationId xmlns:a16="http://schemas.microsoft.com/office/drawing/2014/main" id="{D3085EBE-B089-43B4-B92E-E2DE271ABFE1}"/>
              </a:ext>
            </a:extLst>
          </p:cNvPr>
          <p:cNvSpPr>
            <a:spLocks noGrp="1"/>
          </p:cNvSpPr>
          <p:nvPr/>
        </p:nvSpPr>
        <p:spPr>
          <a:xfrm>
            <a:off x="10515600" y="7658100"/>
            <a:ext cx="4743450" cy="419100"/>
          </a:xfrm>
          <a:prstGeom prst="rect">
            <a:avLst/>
          </a:prstGeom>
        </p:spPr>
        <p:txBody>
          <a:bodyPr lIns="0" tIns="0" rIns="0" bIns="0"/>
          <a:lstStyle/>
          <a:p>
            <a:pPr>
              <a:defRPr sz="1350">
                <a:solidFill>
                  <a:srgbClr val="102030"/>
                </a:solidFill>
              </a:defRPr>
            </a:pPr>
            <a:r>
              <a:rPr sz="1350">
                <a:solidFill>
                  <a:srgbClr val="102030"/>
                </a:solidFill>
              </a:rPr>
              <a:t>• Use persistence and months in state to separate one-month spikes from repeated pressure.</a:t>
            </a:r>
          </a:p>
        </p:txBody>
      </p:sp>
      <p:sp>
        <p:nvSpPr>
          <p:cNvPr id="13" name="bullet-3">
            <a:extLst>
              <a:ext uri="{FF2B5EF4-FFF2-40B4-BE49-F238E27FC236}">
                <a16:creationId xmlns:a16="http://schemas.microsoft.com/office/drawing/2014/main" id="{CA12F300-E0EC-45FD-9EAC-17D2E65A41F8}"/>
              </a:ext>
            </a:extLst>
          </p:cNvPr>
          <p:cNvSpPr>
            <a:spLocks noGrp="1"/>
          </p:cNvSpPr>
          <p:nvPr/>
        </p:nvSpPr>
        <p:spPr>
          <a:xfrm>
            <a:off x="10515600" y="8210550"/>
            <a:ext cx="4781550" cy="419100"/>
          </a:xfrm>
          <a:prstGeom prst="rect">
            <a:avLst/>
          </a:prstGeom>
        </p:spPr>
        <p:txBody>
          <a:bodyPr lIns="0" tIns="0" rIns="0" bIns="0"/>
          <a:lstStyle/>
          <a:p>
            <a:pPr>
              <a:defRPr sz="1350">
                <a:solidFill>
                  <a:srgbClr val="102030"/>
                </a:solidFill>
              </a:defRPr>
            </a:pPr>
            <a:r>
              <a:rPr sz="1350">
                <a:solidFill>
                  <a:srgbClr val="102030"/>
                </a:solidFill>
              </a:rPr>
              <a:t>• Save the top tracts for cross-checking against forecast risk and tract history.</a:t>
            </a:r>
          </a:p>
        </p:txBody>
      </p:sp>
      <p:sp>
        <p:nvSpPr>
          <p:cNvPr id="14" name="footer">
            <a:extLst>
              <a:ext uri="{FF2B5EF4-FFF2-40B4-BE49-F238E27FC236}">
                <a16:creationId xmlns:a16="http://schemas.microsoft.com/office/drawing/2014/main" id="{AAF6B282-0F09-49B2-9421-1176057087D2}"/>
              </a:ext>
            </a:extLst>
          </p:cNvPr>
          <p:cNvSpPr>
            <a:spLocks noGrp="1"/>
          </p:cNvSpPr>
          <p:nvPr/>
        </p:nvSpPr>
        <p:spPr>
          <a:xfrm>
            <a:off x="800100" y="9486900"/>
            <a:ext cx="16687800" cy="152400"/>
          </a:xfrm>
          <a:prstGeom prst="rect">
            <a:avLst/>
          </a:prstGeom>
        </p:spPr>
        <p:txBody>
          <a:bodyPr lIns="0" tIns="0" rIns="0" bIns="0"/>
          <a:lstStyle/>
          <a:p>
            <a:pPr>
              <a:defRPr sz="900">
                <a:solidFill>
                  <a:srgbClr val="66778A"/>
                </a:solidFill>
              </a:defRPr>
            </a:pPr>
            <a:r>
              <a:rPr sz="900">
                <a:solidFill>
                  <a:srgbClr val="66778A"/>
                </a:solidFill>
              </a:rPr>
              <a:t>Current hotspot snapshot as of 2026-05-01. Highest tracts shown: Hamlin Park 36029005202, Delavan Grider 36029003400, Genesee-Moselle 36029003600, and Masten Park 36029003302.</a:t>
            </a:r>
          </a:p>
        </p:txBody>
      </p:sp>
    </p:spTree>
    <p:extLst>
      <p:ext uri="{BB962C8B-B14F-4D97-AF65-F5344CB8AC3E}">
        <p14:creationId xmlns:p14="http://schemas.microsoft.com/office/powerpoint/2010/main" val="2088200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background">
            <a:extLst>
              <a:ext uri="{FF2B5EF4-FFF2-40B4-BE49-F238E27FC236}">
                <a16:creationId xmlns:a16="http://schemas.microsoft.com/office/drawing/2014/main" id="{844288D5-14CF-4F72-9D84-54C34D1DF3D9}"/>
              </a:ext>
            </a:extLst>
          </p:cNvPr>
          <p:cNvSpPr>
            <a:spLocks noGrp="1"/>
          </p:cNvSpPr>
          <p:nvPr/>
        </p:nvSpPr>
        <p:spPr>
          <a:xfrm>
            <a:off x="0" y="0"/>
            <a:ext cx="18288000" cy="10287000"/>
          </a:xfrm>
          <a:prstGeom prst="rect">
            <a:avLst/>
          </a:prstGeom>
          <a:solidFill>
            <a:srgbClr val="F6F3EE"/>
          </a:solidFill>
        </p:spPr>
        <p:txBody>
          <a:bodyPr/>
          <a:lstStyle/>
          <a:p>
            <a:endParaRPr lang="en-US"/>
          </a:p>
        </p:txBody>
      </p:sp>
      <p:sp>
        <p:nvSpPr>
          <p:cNvPr id="2" name="kicker">
            <a:extLst>
              <a:ext uri="{FF2B5EF4-FFF2-40B4-BE49-F238E27FC236}">
                <a16:creationId xmlns:a16="http://schemas.microsoft.com/office/drawing/2014/main" id="{76191125-E0C7-47A5-B20E-6D68351D8D66}"/>
              </a:ext>
            </a:extLst>
          </p:cNvPr>
          <p:cNvSpPr>
            <a:spLocks noGrp="1"/>
          </p:cNvSpPr>
          <p:nvPr/>
        </p:nvSpPr>
        <p:spPr>
          <a:xfrm>
            <a:off x="800100" y="666750"/>
            <a:ext cx="2800350" cy="419100"/>
          </a:xfrm>
          <a:prstGeom prst="rect">
            <a:avLst/>
          </a:prstGeom>
        </p:spPr>
        <p:txBody>
          <a:bodyPr lIns="0" tIns="0" rIns="0" bIns="0"/>
          <a:lstStyle/>
          <a:p>
            <a:pPr>
              <a:defRPr sz="1350" b="1">
                <a:solidFill>
                  <a:srgbClr val="2A7F8C"/>
                </a:solidFill>
              </a:defRPr>
            </a:pPr>
            <a:r>
              <a:rPr sz="1350" b="1">
                <a:solidFill>
                  <a:srgbClr val="2A7F8C"/>
                </a:solidFill>
              </a:rPr>
              <a:t>FORECAST RISK + EARLY INTERVENTION</a:t>
            </a:r>
          </a:p>
        </p:txBody>
      </p:sp>
      <p:sp>
        <p:nvSpPr>
          <p:cNvPr id="3" name="title">
            <a:extLst>
              <a:ext uri="{FF2B5EF4-FFF2-40B4-BE49-F238E27FC236}">
                <a16:creationId xmlns:a16="http://schemas.microsoft.com/office/drawing/2014/main" id="{69467FAE-518A-41FB-87B0-04C2553753A0}"/>
              </a:ext>
            </a:extLst>
          </p:cNvPr>
          <p:cNvSpPr>
            <a:spLocks noGrp="1"/>
          </p:cNvSpPr>
          <p:nvPr/>
        </p:nvSpPr>
        <p:spPr>
          <a:xfrm>
            <a:off x="800100" y="1219200"/>
            <a:ext cx="10344150" cy="2000250"/>
          </a:xfrm>
          <a:prstGeom prst="rect">
            <a:avLst/>
          </a:prstGeom>
        </p:spPr>
        <p:txBody>
          <a:bodyPr lIns="0" tIns="0" rIns="0" bIns="0"/>
          <a:lstStyle/>
          <a:p>
            <a:pPr>
              <a:defRPr sz="4350" b="1">
                <a:solidFill>
                  <a:srgbClr val="102030"/>
                </a:solidFill>
              </a:defRPr>
            </a:pPr>
            <a:r>
              <a:rPr sz="4350" b="1" dirty="0">
                <a:solidFill>
                  <a:srgbClr val="102030"/>
                </a:solidFill>
              </a:rPr>
              <a:t>Move next to the forecast pages to separate imminent risk from actionable early warning.</a:t>
            </a:r>
          </a:p>
        </p:txBody>
      </p:sp>
      <p:sp>
        <p:nvSpPr>
          <p:cNvPr id="4" name="subtitle">
            <a:extLst>
              <a:ext uri="{FF2B5EF4-FFF2-40B4-BE49-F238E27FC236}">
                <a16:creationId xmlns:a16="http://schemas.microsoft.com/office/drawing/2014/main" id="{0DC029DC-97A0-4FE4-85A8-A1DA58D5AFA8}"/>
              </a:ext>
            </a:extLst>
          </p:cNvPr>
          <p:cNvSpPr>
            <a:spLocks noGrp="1"/>
          </p:cNvSpPr>
          <p:nvPr/>
        </p:nvSpPr>
        <p:spPr>
          <a:xfrm>
            <a:off x="800100" y="3333750"/>
            <a:ext cx="10782300" cy="571500"/>
          </a:xfrm>
          <a:prstGeom prst="rect">
            <a:avLst/>
          </a:prstGeom>
        </p:spPr>
        <p:txBody>
          <a:bodyPr lIns="0" tIns="0" rIns="0" bIns="0"/>
          <a:lstStyle/>
          <a:p>
            <a:pPr>
              <a:defRPr sz="1875">
                <a:solidFill>
                  <a:srgbClr val="415A77"/>
                </a:solidFill>
              </a:defRPr>
            </a:pPr>
            <a:r>
              <a:rPr sz="1875">
                <a:solidFill>
                  <a:srgbClr val="415A77"/>
                </a:solidFill>
              </a:rPr>
              <a:t>The forecast views answer a different question than hotspots: not what is already bad, but what is most likely to deteriorate next.</a:t>
            </a:r>
          </a:p>
        </p:txBody>
      </p:sp>
      <p:pic>
        <p:nvPicPr>
          <p:cNvPr id="5" name="horizon-summary"/>
          <p:cNvPicPr>
            <a:picLocks noChangeAspect="1"/>
          </p:cNvPicPr>
          <p:nvPr/>
        </p:nvPicPr>
        <p:blipFill>
          <a:blip r:embed="rId3"/>
          <a:stretch/>
        </p:blipFill>
        <p:spPr>
          <a:xfrm>
            <a:off x="800100" y="3960077"/>
            <a:ext cx="4818606" cy="2859823"/>
          </a:xfrm>
          <a:prstGeom prst="rect">
            <a:avLst/>
          </a:prstGeom>
        </p:spPr>
      </p:pic>
      <p:sp>
        <p:nvSpPr>
          <p:cNvPr id="6" name="bullet-1">
            <a:extLst>
              <a:ext uri="{FF2B5EF4-FFF2-40B4-BE49-F238E27FC236}">
                <a16:creationId xmlns:a16="http://schemas.microsoft.com/office/drawing/2014/main" id="{070E712C-46F4-4F8F-9D8B-4EFC7BF1B49E}"/>
              </a:ext>
            </a:extLst>
          </p:cNvPr>
          <p:cNvSpPr>
            <a:spLocks noGrp="1"/>
          </p:cNvSpPr>
          <p:nvPr/>
        </p:nvSpPr>
        <p:spPr>
          <a:xfrm>
            <a:off x="800100" y="6972300"/>
            <a:ext cx="4705350" cy="590550"/>
          </a:xfrm>
          <a:prstGeom prst="rect">
            <a:avLst/>
          </a:prstGeom>
        </p:spPr>
        <p:txBody>
          <a:bodyPr lIns="0" tIns="0" rIns="0" bIns="0"/>
          <a:lstStyle/>
          <a:p>
            <a:pPr>
              <a:defRPr sz="1275">
                <a:solidFill>
                  <a:srgbClr val="102030"/>
                </a:solidFill>
              </a:defRPr>
            </a:pPr>
            <a:r>
              <a:rPr sz="1275" dirty="0">
                <a:solidFill>
                  <a:srgbClr val="102030"/>
                </a:solidFill>
              </a:rPr>
              <a:t>• At the latest live-scored month, 18 tracts sit above 20% risk on the 6m horizon and 6 of those qualify as early-intervention candidates because they are not already severe.</a:t>
            </a:r>
          </a:p>
        </p:txBody>
      </p:sp>
      <p:sp>
        <p:nvSpPr>
          <p:cNvPr id="7" name="bullet-2">
            <a:extLst>
              <a:ext uri="{FF2B5EF4-FFF2-40B4-BE49-F238E27FC236}">
                <a16:creationId xmlns:a16="http://schemas.microsoft.com/office/drawing/2014/main" id="{30F463B2-4F51-48F5-8F33-90E3C6A7E8F7}"/>
              </a:ext>
            </a:extLst>
          </p:cNvPr>
          <p:cNvSpPr>
            <a:spLocks noGrp="1"/>
          </p:cNvSpPr>
          <p:nvPr/>
        </p:nvSpPr>
        <p:spPr>
          <a:xfrm>
            <a:off x="800100" y="7696200"/>
            <a:ext cx="4914900" cy="590550"/>
          </a:xfrm>
          <a:prstGeom prst="rect">
            <a:avLst/>
          </a:prstGeom>
        </p:spPr>
        <p:txBody>
          <a:bodyPr lIns="0" tIns="0" rIns="0" bIns="0"/>
          <a:lstStyle/>
          <a:p>
            <a:pPr>
              <a:defRPr sz="1275">
                <a:solidFill>
                  <a:srgbClr val="102030"/>
                </a:solidFill>
              </a:defRPr>
            </a:pPr>
            <a:r>
              <a:rPr sz="1275">
                <a:solidFill>
                  <a:srgbClr val="102030"/>
                </a:solidFill>
              </a:rPr>
              <a:t>• Longer horizons still widen the watchlist: the average risk rises from 8.6% on the 1m horizon to 22.2% on the 12m horizon, so the horizon choice changes how aggressive the scan feels.</a:t>
            </a:r>
          </a:p>
        </p:txBody>
      </p:sp>
      <p:sp>
        <p:nvSpPr>
          <p:cNvPr id="8" name="bullet-3">
            <a:extLst>
              <a:ext uri="{FF2B5EF4-FFF2-40B4-BE49-F238E27FC236}">
                <a16:creationId xmlns:a16="http://schemas.microsoft.com/office/drawing/2014/main" id="{FFAFEAD3-DDA8-4223-BC95-0EEAACBA340C}"/>
              </a:ext>
            </a:extLst>
          </p:cNvPr>
          <p:cNvSpPr>
            <a:spLocks noGrp="1"/>
          </p:cNvSpPr>
          <p:nvPr/>
        </p:nvSpPr>
        <p:spPr>
          <a:xfrm>
            <a:off x="800100" y="8401050"/>
            <a:ext cx="4876800" cy="590550"/>
          </a:xfrm>
          <a:prstGeom prst="rect">
            <a:avLst/>
          </a:prstGeom>
        </p:spPr>
        <p:txBody>
          <a:bodyPr lIns="0" tIns="0" rIns="0" bIns="0"/>
          <a:lstStyle/>
          <a:p>
            <a:pPr>
              <a:defRPr sz="1275">
                <a:solidFill>
                  <a:srgbClr val="102030"/>
                </a:solidFill>
              </a:defRPr>
            </a:pPr>
            <a:r>
              <a:rPr sz="1275">
                <a:solidFill>
                  <a:srgbClr val="102030"/>
                </a:solidFill>
              </a:rPr>
              <a:t>• Kensington-Bailey now leads the live early-intervention list. Use Forecast Risk for cross-horizon comparison and Early Intervention Candidates when the goal is to act before severity is obvious.</a:t>
            </a:r>
          </a:p>
        </p:txBody>
      </p:sp>
      <p:pic>
        <p:nvPicPr>
          <p:cNvPr id="9" name="early-intervention-chart"/>
          <p:cNvPicPr>
            <a:picLocks noChangeAspect="1"/>
          </p:cNvPicPr>
          <p:nvPr/>
        </p:nvPicPr>
        <p:blipFill>
          <a:blip r:embed="rId4"/>
          <a:stretch/>
        </p:blipFill>
        <p:spPr>
          <a:xfrm>
            <a:off x="6630444" y="3792372"/>
            <a:ext cx="10222386" cy="5905500"/>
          </a:xfrm>
          <a:prstGeom prst="rect">
            <a:avLst/>
          </a:prstGeom>
        </p:spPr>
      </p:pic>
      <p:sp>
        <p:nvSpPr>
          <p:cNvPr id="10" name="footer">
            <a:extLst>
              <a:ext uri="{FF2B5EF4-FFF2-40B4-BE49-F238E27FC236}">
                <a16:creationId xmlns:a16="http://schemas.microsoft.com/office/drawing/2014/main" id="{025B9288-208B-4A5D-957F-56DB5FCE8B53}"/>
              </a:ext>
            </a:extLst>
          </p:cNvPr>
          <p:cNvSpPr>
            <a:spLocks noGrp="1"/>
          </p:cNvSpPr>
          <p:nvPr/>
        </p:nvSpPr>
        <p:spPr>
          <a:xfrm>
            <a:off x="800100" y="9486900"/>
            <a:ext cx="16687800" cy="152400"/>
          </a:xfrm>
          <a:prstGeom prst="rect">
            <a:avLst/>
          </a:prstGeom>
        </p:spPr>
        <p:txBody>
          <a:bodyPr lIns="0" tIns="0" rIns="0" bIns="0"/>
          <a:lstStyle/>
          <a:p>
            <a:pPr>
              <a:defRPr sz="900">
                <a:solidFill>
                  <a:srgbClr val="66778A"/>
                </a:solidFill>
              </a:defRPr>
            </a:pPr>
            <a:r>
              <a:rPr sz="900">
                <a:solidFill>
                  <a:srgbClr val="66778A"/>
                </a:solidFill>
              </a:rPr>
              <a:t>Forecast snapshot uses the latest live-scored month in analytics.tract_forecast_scores: 2026-05-01. Example 6m forecast metrics: average probability 0.141, max probability 0.797, 18 tracts above 20% risk.</a:t>
            </a:r>
          </a:p>
        </p:txBody>
      </p:sp>
    </p:spTree>
    <p:extLst>
      <p:ext uri="{BB962C8B-B14F-4D97-AF65-F5344CB8AC3E}">
        <p14:creationId xmlns:p14="http://schemas.microsoft.com/office/powerpoint/2010/main" val="703937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ackground">
            <a:extLst>
              <a:ext uri="{FF2B5EF4-FFF2-40B4-BE49-F238E27FC236}">
                <a16:creationId xmlns:a16="http://schemas.microsoft.com/office/drawing/2014/main" id="{D4A0A115-CD48-4412-BFDC-4D68F2D5E9AC}"/>
              </a:ext>
            </a:extLst>
          </p:cNvPr>
          <p:cNvSpPr>
            <a:spLocks noGrp="1"/>
          </p:cNvSpPr>
          <p:nvPr/>
        </p:nvSpPr>
        <p:spPr>
          <a:xfrm>
            <a:off x="0" y="0"/>
            <a:ext cx="18288000" cy="10287000"/>
          </a:xfrm>
          <a:prstGeom prst="rect">
            <a:avLst/>
          </a:prstGeom>
          <a:solidFill>
            <a:srgbClr val="F6F3EE"/>
          </a:solidFill>
        </p:spPr>
        <p:txBody>
          <a:bodyPr/>
          <a:lstStyle/>
          <a:p>
            <a:endParaRPr lang="en-US"/>
          </a:p>
        </p:txBody>
      </p:sp>
      <p:sp>
        <p:nvSpPr>
          <p:cNvPr id="2" name="kicker">
            <a:extLst>
              <a:ext uri="{FF2B5EF4-FFF2-40B4-BE49-F238E27FC236}">
                <a16:creationId xmlns:a16="http://schemas.microsoft.com/office/drawing/2014/main" id="{49B6662F-B6B6-4BD0-9476-53571C998879}"/>
              </a:ext>
            </a:extLst>
          </p:cNvPr>
          <p:cNvSpPr>
            <a:spLocks noGrp="1"/>
          </p:cNvSpPr>
          <p:nvPr/>
        </p:nvSpPr>
        <p:spPr>
          <a:xfrm>
            <a:off x="800100" y="666750"/>
            <a:ext cx="2133600" cy="419100"/>
          </a:xfrm>
          <a:prstGeom prst="rect">
            <a:avLst/>
          </a:prstGeom>
        </p:spPr>
        <p:txBody>
          <a:bodyPr lIns="0" tIns="0" rIns="0" bIns="0"/>
          <a:lstStyle/>
          <a:p>
            <a:pPr>
              <a:defRPr sz="1350" b="1">
                <a:solidFill>
                  <a:srgbClr val="2A7F8C"/>
                </a:solidFill>
              </a:defRPr>
            </a:pPr>
            <a:r>
              <a:rPr sz="1350" b="1">
                <a:solidFill>
                  <a:srgbClr val="2A7F8C"/>
                </a:solidFill>
              </a:rPr>
              <a:t>TRACT EXPLORER CASE STUDY</a:t>
            </a:r>
          </a:p>
        </p:txBody>
      </p:sp>
      <p:sp>
        <p:nvSpPr>
          <p:cNvPr id="3" name="title">
            <a:extLst>
              <a:ext uri="{FF2B5EF4-FFF2-40B4-BE49-F238E27FC236}">
                <a16:creationId xmlns:a16="http://schemas.microsoft.com/office/drawing/2014/main" id="{1CADA878-A119-4F68-A6B5-DD91406F6736}"/>
              </a:ext>
            </a:extLst>
          </p:cNvPr>
          <p:cNvSpPr>
            <a:spLocks noGrp="1"/>
          </p:cNvSpPr>
          <p:nvPr/>
        </p:nvSpPr>
        <p:spPr>
          <a:xfrm>
            <a:off x="800100" y="1219200"/>
            <a:ext cx="9734550" cy="2000250"/>
          </a:xfrm>
          <a:prstGeom prst="rect">
            <a:avLst/>
          </a:prstGeom>
        </p:spPr>
        <p:txBody>
          <a:bodyPr lIns="0" tIns="0" rIns="0" bIns="0"/>
          <a:lstStyle/>
          <a:p>
            <a:pPr>
              <a:defRPr sz="4350" b="1">
                <a:solidFill>
                  <a:srgbClr val="102030"/>
                </a:solidFill>
              </a:defRPr>
            </a:pPr>
            <a:r>
              <a:rPr sz="4350" b="1">
                <a:solidFill>
                  <a:srgbClr val="102030"/>
                </a:solidFill>
              </a:rPr>
              <a:t>Hamlin Park shows why the forecast pages matter before the hotspot list peaks.</a:t>
            </a:r>
          </a:p>
        </p:txBody>
      </p:sp>
      <p:sp>
        <p:nvSpPr>
          <p:cNvPr id="4" name="subtitle">
            <a:extLst>
              <a:ext uri="{FF2B5EF4-FFF2-40B4-BE49-F238E27FC236}">
                <a16:creationId xmlns:a16="http://schemas.microsoft.com/office/drawing/2014/main" id="{B2F66C14-432E-42FD-B99B-1067506E4306}"/>
              </a:ext>
            </a:extLst>
          </p:cNvPr>
          <p:cNvSpPr>
            <a:spLocks noGrp="1"/>
          </p:cNvSpPr>
          <p:nvPr/>
        </p:nvSpPr>
        <p:spPr>
          <a:xfrm>
            <a:off x="800100" y="3333750"/>
            <a:ext cx="10839450" cy="571500"/>
          </a:xfrm>
          <a:prstGeom prst="rect">
            <a:avLst/>
          </a:prstGeom>
        </p:spPr>
        <p:txBody>
          <a:bodyPr lIns="0" tIns="0" rIns="0" bIns="0"/>
          <a:lstStyle/>
          <a:p>
            <a:pPr>
              <a:defRPr sz="1875">
                <a:solidFill>
                  <a:srgbClr val="415A77"/>
                </a:solidFill>
              </a:defRPr>
            </a:pPr>
            <a:r>
              <a:rPr sz="1875">
                <a:solidFill>
                  <a:srgbClr val="415A77"/>
                </a:solidFill>
              </a:rPr>
              <a:t>This is a historical backtest example from the app that shows how the forecast pages can surface a tract before it becomes the top current hotspot.</a:t>
            </a:r>
          </a:p>
        </p:txBody>
      </p:sp>
      <p:sp>
        <p:nvSpPr>
          <p:cNvPr id="5" name="Rectangle 4">
            <a:extLst>
              <a:ext uri="{FF2B5EF4-FFF2-40B4-BE49-F238E27FC236}">
                <a16:creationId xmlns:a16="http://schemas.microsoft.com/office/drawing/2014/main" id="{1584C4EE-A388-4C24-B027-D841143381B3}"/>
              </a:ext>
            </a:extLst>
          </p:cNvPr>
          <p:cNvSpPr>
            <a:spLocks noGrp="1"/>
          </p:cNvSpPr>
          <p:nvPr/>
        </p:nvSpPr>
        <p:spPr>
          <a:xfrm>
            <a:off x="800100" y="4152900"/>
            <a:ext cx="1485900" cy="609600"/>
          </a:xfrm>
          <a:prstGeom prst="rect">
            <a:avLst/>
          </a:prstGeom>
        </p:spPr>
        <p:txBody>
          <a:bodyPr lIns="0" tIns="0" rIns="0" bIns="0"/>
          <a:lstStyle/>
          <a:p>
            <a:pPr>
              <a:defRPr sz="1950" b="1">
                <a:solidFill>
                  <a:srgbClr val="102030"/>
                </a:solidFill>
              </a:defRPr>
            </a:pPr>
            <a:r>
              <a:rPr sz="1950" b="1">
                <a:solidFill>
                  <a:srgbClr val="102030"/>
                </a:solidFill>
              </a:rPr>
              <a:t>What changed</a:t>
            </a:r>
          </a:p>
        </p:txBody>
      </p:sp>
      <p:sp>
        <p:nvSpPr>
          <p:cNvPr id="6" name="bullet-1">
            <a:extLst>
              <a:ext uri="{FF2B5EF4-FFF2-40B4-BE49-F238E27FC236}">
                <a16:creationId xmlns:a16="http://schemas.microsoft.com/office/drawing/2014/main" id="{9A73033F-99D9-4655-97FA-DF4DFCA168AE}"/>
              </a:ext>
            </a:extLst>
          </p:cNvPr>
          <p:cNvSpPr>
            <a:spLocks noGrp="1"/>
          </p:cNvSpPr>
          <p:nvPr/>
        </p:nvSpPr>
        <p:spPr>
          <a:xfrm>
            <a:off x="800100" y="4895850"/>
            <a:ext cx="5010150" cy="685800"/>
          </a:xfrm>
          <a:prstGeom prst="rect">
            <a:avLst/>
          </a:prstGeom>
        </p:spPr>
        <p:txBody>
          <a:bodyPr lIns="0" tIns="0" rIns="0" bIns="0"/>
          <a:lstStyle/>
          <a:p>
            <a:pPr>
              <a:defRPr sz="1500">
                <a:solidFill>
                  <a:srgbClr val="102030"/>
                </a:solidFill>
              </a:defRPr>
            </a:pPr>
            <a:r>
              <a:rPr sz="1500">
                <a:solidFill>
                  <a:srgbClr val="102030"/>
                </a:solidFill>
              </a:rPr>
              <a:t>• On 2025-05-01, Hamlin Park tract 36029005202 was still Emerging Risk, but the 6m forecast probability was already 0.349 and the tract sat in the 89th risk percentile.</a:t>
            </a:r>
          </a:p>
        </p:txBody>
      </p:sp>
      <p:sp>
        <p:nvSpPr>
          <p:cNvPr id="7" name="bullet-2">
            <a:extLst>
              <a:ext uri="{FF2B5EF4-FFF2-40B4-BE49-F238E27FC236}">
                <a16:creationId xmlns:a16="http://schemas.microsoft.com/office/drawing/2014/main" id="{80ABCF19-991B-4129-B004-313DFA82D275}"/>
              </a:ext>
            </a:extLst>
          </p:cNvPr>
          <p:cNvSpPr>
            <a:spLocks noGrp="1"/>
          </p:cNvSpPr>
          <p:nvPr/>
        </p:nvSpPr>
        <p:spPr>
          <a:xfrm>
            <a:off x="800100" y="5715000"/>
            <a:ext cx="4667250" cy="914400"/>
          </a:xfrm>
          <a:prstGeom prst="rect">
            <a:avLst/>
          </a:prstGeom>
        </p:spPr>
        <p:txBody>
          <a:bodyPr lIns="0" tIns="0" rIns="0" bIns="0"/>
          <a:lstStyle/>
          <a:p>
            <a:pPr>
              <a:defRPr sz="1500">
                <a:solidFill>
                  <a:srgbClr val="102030"/>
                </a:solidFill>
              </a:defRPr>
            </a:pPr>
            <a:r>
              <a:rPr sz="1500">
                <a:solidFill>
                  <a:srgbClr val="102030"/>
                </a:solidFill>
              </a:rPr>
              <a:t>• The main forecast drivers were combined trajectory score, neighbor_avg_rolling_3m, and cases_last_6m_per_1000_housing_units, which points users toward both internal trajectory and spillover context.</a:t>
            </a:r>
          </a:p>
        </p:txBody>
      </p:sp>
      <p:sp>
        <p:nvSpPr>
          <p:cNvPr id="8" name="bullet-3">
            <a:extLst>
              <a:ext uri="{FF2B5EF4-FFF2-40B4-BE49-F238E27FC236}">
                <a16:creationId xmlns:a16="http://schemas.microsoft.com/office/drawing/2014/main" id="{510B59F7-55CD-49F9-B50C-5EA7089C22B9}"/>
              </a:ext>
            </a:extLst>
          </p:cNvPr>
          <p:cNvSpPr>
            <a:spLocks noGrp="1"/>
          </p:cNvSpPr>
          <p:nvPr/>
        </p:nvSpPr>
        <p:spPr>
          <a:xfrm>
            <a:off x="800100" y="6762750"/>
            <a:ext cx="4991100" cy="685800"/>
          </a:xfrm>
          <a:prstGeom prst="rect">
            <a:avLst/>
          </a:prstGeom>
        </p:spPr>
        <p:txBody>
          <a:bodyPr lIns="0" tIns="0" rIns="0" bIns="0"/>
          <a:lstStyle/>
          <a:p>
            <a:pPr>
              <a:defRPr sz="1500">
                <a:solidFill>
                  <a:srgbClr val="102030"/>
                </a:solidFill>
              </a:defRPr>
            </a:pPr>
            <a:r>
              <a:rPr sz="1500">
                <a:solidFill>
                  <a:srgbClr val="102030"/>
                </a:solidFill>
              </a:rPr>
              <a:t>• By 2026-05-01, the same tract had become the highest-scoring current hotspot in the city at 98.3 and was classified as Rapid Deterioration.</a:t>
            </a:r>
          </a:p>
        </p:txBody>
      </p:sp>
      <p:sp>
        <p:nvSpPr>
          <p:cNvPr id="9" name="Rectangle 8">
            <a:extLst>
              <a:ext uri="{FF2B5EF4-FFF2-40B4-BE49-F238E27FC236}">
                <a16:creationId xmlns:a16="http://schemas.microsoft.com/office/drawing/2014/main" id="{5EF408B3-C5C0-41C6-B49E-3804D7BF8E05}"/>
              </a:ext>
            </a:extLst>
          </p:cNvPr>
          <p:cNvSpPr>
            <a:spLocks noGrp="1"/>
          </p:cNvSpPr>
          <p:nvPr/>
        </p:nvSpPr>
        <p:spPr>
          <a:xfrm>
            <a:off x="800100" y="7600950"/>
            <a:ext cx="457200" cy="457200"/>
          </a:xfrm>
          <a:prstGeom prst="rect">
            <a:avLst/>
          </a:prstGeom>
        </p:spPr>
        <p:txBody>
          <a:bodyPr lIns="0" tIns="0" rIns="0" bIns="0"/>
          <a:lstStyle/>
          <a:p>
            <a:pPr>
              <a:defRPr sz="1500" b="1">
                <a:solidFill>
                  <a:srgbClr val="2A7F8C"/>
                </a:solidFill>
              </a:defRPr>
            </a:pPr>
            <a:r>
              <a:rPr sz="1500" b="1">
                <a:solidFill>
                  <a:srgbClr val="2A7F8C"/>
                </a:solidFill>
              </a:rPr>
              <a:t>Use it</a:t>
            </a:r>
          </a:p>
        </p:txBody>
      </p:sp>
      <p:sp>
        <p:nvSpPr>
          <p:cNvPr id="10" name="bullet-1">
            <a:extLst>
              <a:ext uri="{FF2B5EF4-FFF2-40B4-BE49-F238E27FC236}">
                <a16:creationId xmlns:a16="http://schemas.microsoft.com/office/drawing/2014/main" id="{0377D8B0-9442-4E91-BB2A-7BDD88420F6D}"/>
              </a:ext>
            </a:extLst>
          </p:cNvPr>
          <p:cNvSpPr>
            <a:spLocks noGrp="1"/>
          </p:cNvSpPr>
          <p:nvPr/>
        </p:nvSpPr>
        <p:spPr>
          <a:xfrm>
            <a:off x="800100" y="8210550"/>
            <a:ext cx="4895850" cy="400050"/>
          </a:xfrm>
          <a:prstGeom prst="rect">
            <a:avLst/>
          </a:prstGeom>
        </p:spPr>
        <p:txBody>
          <a:bodyPr lIns="0" tIns="0" rIns="0" bIns="0"/>
          <a:lstStyle/>
          <a:p>
            <a:pPr>
              <a:defRPr sz="1275">
                <a:solidFill>
                  <a:srgbClr val="102030"/>
                </a:solidFill>
              </a:defRPr>
            </a:pPr>
            <a:r>
              <a:rPr sz="1275">
                <a:solidFill>
                  <a:srgbClr val="102030"/>
                </a:solidFill>
              </a:rPr>
              <a:t>• Use a live forecast page for current triage, then keep a historical backtest example like this in the deck to explain why the workflow matters.</a:t>
            </a:r>
          </a:p>
        </p:txBody>
      </p:sp>
      <p:sp>
        <p:nvSpPr>
          <p:cNvPr id="11" name="bullet-2">
            <a:extLst>
              <a:ext uri="{FF2B5EF4-FFF2-40B4-BE49-F238E27FC236}">
                <a16:creationId xmlns:a16="http://schemas.microsoft.com/office/drawing/2014/main" id="{67A709A2-A445-4F64-A224-AC31E6304564}"/>
              </a:ext>
            </a:extLst>
          </p:cNvPr>
          <p:cNvSpPr>
            <a:spLocks noGrp="1"/>
          </p:cNvSpPr>
          <p:nvPr/>
        </p:nvSpPr>
        <p:spPr>
          <a:xfrm>
            <a:off x="800100" y="8743950"/>
            <a:ext cx="4324350" cy="400050"/>
          </a:xfrm>
          <a:prstGeom prst="rect">
            <a:avLst/>
          </a:prstGeom>
        </p:spPr>
        <p:txBody>
          <a:bodyPr lIns="0" tIns="0" rIns="0" bIns="0"/>
          <a:lstStyle/>
          <a:p>
            <a:pPr>
              <a:defRPr sz="1275">
                <a:solidFill>
                  <a:srgbClr val="102030"/>
                </a:solidFill>
              </a:defRPr>
            </a:pPr>
            <a:r>
              <a:rPr sz="1275">
                <a:solidFill>
                  <a:srgbClr val="102030"/>
                </a:solidFill>
              </a:rPr>
              <a:t>• Use Hotspot Analysis later to confirm whether the tract has fully transitioned into a current-priority condition.</a:t>
            </a:r>
          </a:p>
        </p:txBody>
      </p:sp>
      <p:pic>
        <p:nvPicPr>
          <p:cNvPr id="12" name="hamlin-case-image"/>
          <p:cNvPicPr>
            <a:picLocks noChangeAspect="1"/>
          </p:cNvPicPr>
          <p:nvPr/>
        </p:nvPicPr>
        <p:blipFill>
          <a:blip r:embed="rId3"/>
          <a:stretch/>
        </p:blipFill>
        <p:spPr>
          <a:xfrm>
            <a:off x="6819900" y="4155281"/>
            <a:ext cx="10572750" cy="5214938"/>
          </a:xfrm>
          <a:prstGeom prst="rect">
            <a:avLst/>
          </a:prstGeom>
        </p:spPr>
      </p:pic>
      <p:sp>
        <p:nvSpPr>
          <p:cNvPr id="13" name="footer">
            <a:extLst>
              <a:ext uri="{FF2B5EF4-FFF2-40B4-BE49-F238E27FC236}">
                <a16:creationId xmlns:a16="http://schemas.microsoft.com/office/drawing/2014/main" id="{9121C6F8-14AD-4792-A1A5-DABE53C4EC3C}"/>
              </a:ext>
            </a:extLst>
          </p:cNvPr>
          <p:cNvSpPr>
            <a:spLocks noGrp="1"/>
          </p:cNvSpPr>
          <p:nvPr/>
        </p:nvSpPr>
        <p:spPr>
          <a:xfrm>
            <a:off x="800100" y="9486900"/>
            <a:ext cx="16687800" cy="152400"/>
          </a:xfrm>
          <a:prstGeom prst="rect">
            <a:avLst/>
          </a:prstGeom>
        </p:spPr>
        <p:txBody>
          <a:bodyPr lIns="0" tIns="0" rIns="0" bIns="0"/>
          <a:lstStyle/>
          <a:p>
            <a:pPr>
              <a:defRPr sz="900">
                <a:solidFill>
                  <a:srgbClr val="66778A"/>
                </a:solidFill>
              </a:defRPr>
            </a:pPr>
            <a:r>
              <a:rPr sz="900">
                <a:solidFill>
                  <a:srgbClr val="66778A"/>
                </a:solidFill>
              </a:rPr>
              <a:t>Case study tract: Hamlin Park 36029005202. Forecast snapshot date: 2025-05-01. Current-condition snapshot date: 2026-05-01.</a:t>
            </a:r>
          </a:p>
        </p:txBody>
      </p:sp>
    </p:spTree>
    <p:extLst>
      <p:ext uri="{BB962C8B-B14F-4D97-AF65-F5344CB8AC3E}">
        <p14:creationId xmlns:p14="http://schemas.microsoft.com/office/powerpoint/2010/main" val="28521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ackground">
            <a:extLst>
              <a:ext uri="{FF2B5EF4-FFF2-40B4-BE49-F238E27FC236}">
                <a16:creationId xmlns:a16="http://schemas.microsoft.com/office/drawing/2014/main" id="{4077BB6A-A1B3-4750-9C54-B6ED5F5761A0}"/>
              </a:ext>
            </a:extLst>
          </p:cNvPr>
          <p:cNvSpPr>
            <a:spLocks noGrp="1"/>
          </p:cNvSpPr>
          <p:nvPr/>
        </p:nvSpPr>
        <p:spPr>
          <a:xfrm>
            <a:off x="0" y="0"/>
            <a:ext cx="18288000" cy="10287000"/>
          </a:xfrm>
          <a:prstGeom prst="rect">
            <a:avLst/>
          </a:prstGeom>
          <a:solidFill>
            <a:srgbClr val="F6F3EE"/>
          </a:solidFill>
        </p:spPr>
        <p:txBody>
          <a:bodyPr/>
          <a:lstStyle/>
          <a:p>
            <a:endParaRPr lang="en-US"/>
          </a:p>
        </p:txBody>
      </p:sp>
      <p:sp>
        <p:nvSpPr>
          <p:cNvPr id="2" name="kicker">
            <a:extLst>
              <a:ext uri="{FF2B5EF4-FFF2-40B4-BE49-F238E27FC236}">
                <a16:creationId xmlns:a16="http://schemas.microsoft.com/office/drawing/2014/main" id="{BB43E9EF-98F8-4F86-879A-21CA87A8D7EB}"/>
              </a:ext>
            </a:extLst>
          </p:cNvPr>
          <p:cNvSpPr>
            <a:spLocks noGrp="1"/>
          </p:cNvSpPr>
          <p:nvPr/>
        </p:nvSpPr>
        <p:spPr>
          <a:xfrm>
            <a:off x="800100" y="666750"/>
            <a:ext cx="2667000" cy="419100"/>
          </a:xfrm>
          <a:prstGeom prst="rect">
            <a:avLst/>
          </a:prstGeom>
        </p:spPr>
        <p:txBody>
          <a:bodyPr lIns="0" tIns="0" rIns="0" bIns="0"/>
          <a:lstStyle/>
          <a:p>
            <a:pPr>
              <a:defRPr sz="1350" b="1">
                <a:solidFill>
                  <a:srgbClr val="2A7F8C"/>
                </a:solidFill>
              </a:defRPr>
            </a:pPr>
            <a:r>
              <a:rPr sz="1350" b="1">
                <a:solidFill>
                  <a:srgbClr val="2A7F8C"/>
                </a:solidFill>
              </a:rPr>
              <a:t>NEIGHBORHOOD STATE TRANSITIONS</a:t>
            </a:r>
          </a:p>
        </p:txBody>
      </p:sp>
      <p:sp>
        <p:nvSpPr>
          <p:cNvPr id="3" name="title">
            <a:extLst>
              <a:ext uri="{FF2B5EF4-FFF2-40B4-BE49-F238E27FC236}">
                <a16:creationId xmlns:a16="http://schemas.microsoft.com/office/drawing/2014/main" id="{9B6CF50F-BA94-4AB0-9546-4DFCDE3856DD}"/>
              </a:ext>
            </a:extLst>
          </p:cNvPr>
          <p:cNvSpPr>
            <a:spLocks noGrp="1"/>
          </p:cNvSpPr>
          <p:nvPr/>
        </p:nvSpPr>
        <p:spPr>
          <a:xfrm>
            <a:off x="800100" y="1219200"/>
            <a:ext cx="10572750" cy="1333500"/>
          </a:xfrm>
          <a:prstGeom prst="rect">
            <a:avLst/>
          </a:prstGeom>
        </p:spPr>
        <p:txBody>
          <a:bodyPr lIns="0" tIns="0" rIns="0" bIns="0"/>
          <a:lstStyle/>
          <a:p>
            <a:pPr>
              <a:defRPr sz="4350" b="1">
                <a:solidFill>
                  <a:srgbClr val="102030"/>
                </a:solidFill>
              </a:defRPr>
            </a:pPr>
            <a:r>
              <a:rPr sz="4350" b="1">
                <a:solidFill>
                  <a:srgbClr val="102030"/>
                </a:solidFill>
              </a:rPr>
              <a:t>Use the transition view to calibrate how sticky or reversible each state tends to be.</a:t>
            </a:r>
          </a:p>
        </p:txBody>
      </p:sp>
      <p:sp>
        <p:nvSpPr>
          <p:cNvPr id="4" name="subtitle">
            <a:extLst>
              <a:ext uri="{FF2B5EF4-FFF2-40B4-BE49-F238E27FC236}">
                <a16:creationId xmlns:a16="http://schemas.microsoft.com/office/drawing/2014/main" id="{15AF2283-8A8F-4343-806A-9FFFDD7FBB9D}"/>
              </a:ext>
            </a:extLst>
          </p:cNvPr>
          <p:cNvSpPr>
            <a:spLocks noGrp="1"/>
          </p:cNvSpPr>
          <p:nvPr/>
        </p:nvSpPr>
        <p:spPr>
          <a:xfrm>
            <a:off x="800100" y="2667000"/>
            <a:ext cx="10668000" cy="571500"/>
          </a:xfrm>
          <a:prstGeom prst="rect">
            <a:avLst/>
          </a:prstGeom>
        </p:spPr>
        <p:txBody>
          <a:bodyPr lIns="0" tIns="0" rIns="0" bIns="0"/>
          <a:lstStyle/>
          <a:p>
            <a:pPr>
              <a:defRPr sz="1875">
                <a:solidFill>
                  <a:srgbClr val="415A77"/>
                </a:solidFill>
              </a:defRPr>
            </a:pPr>
            <a:r>
              <a:rPr sz="1875">
                <a:solidFill>
                  <a:srgbClr val="415A77"/>
                </a:solidFill>
              </a:rPr>
              <a:t>This page turns the neighborhood-state model into a decision aid: when a tract is flagged elsewhere, transition behavior helps you decide how aggressively to respond.</a:t>
            </a:r>
          </a:p>
        </p:txBody>
      </p:sp>
      <p:pic>
        <p:nvPicPr>
          <p:cNvPr id="5" name="transition-chart"/>
          <p:cNvPicPr>
            <a:picLocks noChangeAspect="1"/>
          </p:cNvPicPr>
          <p:nvPr/>
        </p:nvPicPr>
        <p:blipFill>
          <a:blip r:embed="rId3"/>
          <a:stretch/>
        </p:blipFill>
        <p:spPr>
          <a:xfrm>
            <a:off x="800100" y="3596516"/>
            <a:ext cx="9334500" cy="5539988"/>
          </a:xfrm>
          <a:prstGeom prst="rect">
            <a:avLst/>
          </a:prstGeom>
        </p:spPr>
      </p:pic>
      <p:sp>
        <p:nvSpPr>
          <p:cNvPr id="6" name="Rectangle 5">
            <a:extLst>
              <a:ext uri="{FF2B5EF4-FFF2-40B4-BE49-F238E27FC236}">
                <a16:creationId xmlns:a16="http://schemas.microsoft.com/office/drawing/2014/main" id="{202FF198-0FA4-473B-922D-FEA756794DCF}"/>
              </a:ext>
            </a:extLst>
          </p:cNvPr>
          <p:cNvSpPr>
            <a:spLocks noGrp="1"/>
          </p:cNvSpPr>
          <p:nvPr/>
        </p:nvSpPr>
        <p:spPr>
          <a:xfrm>
            <a:off x="10477500" y="3505200"/>
            <a:ext cx="4552950" cy="342900"/>
          </a:xfrm>
          <a:prstGeom prst="rect">
            <a:avLst/>
          </a:prstGeom>
        </p:spPr>
        <p:txBody>
          <a:bodyPr lIns="0" tIns="0" rIns="0" bIns="0"/>
          <a:lstStyle/>
          <a:p>
            <a:pPr>
              <a:defRPr sz="2250" b="1">
                <a:solidFill>
                  <a:srgbClr val="102030"/>
                </a:solidFill>
              </a:defRPr>
            </a:pPr>
            <a:r>
              <a:rPr sz="2250" b="1">
                <a:solidFill>
                  <a:srgbClr val="102030"/>
                </a:solidFill>
              </a:rPr>
              <a:t>What the transition matrix is telling us</a:t>
            </a:r>
          </a:p>
        </p:txBody>
      </p:sp>
      <p:sp>
        <p:nvSpPr>
          <p:cNvPr id="7" name="bullet-1">
            <a:extLst>
              <a:ext uri="{FF2B5EF4-FFF2-40B4-BE49-F238E27FC236}">
                <a16:creationId xmlns:a16="http://schemas.microsoft.com/office/drawing/2014/main" id="{0C8ABAFE-E4AA-43E9-8BC4-2752F1F7453F}"/>
              </a:ext>
            </a:extLst>
          </p:cNvPr>
          <p:cNvSpPr>
            <a:spLocks noGrp="1"/>
          </p:cNvSpPr>
          <p:nvPr/>
        </p:nvSpPr>
        <p:spPr>
          <a:xfrm>
            <a:off x="10477500" y="4019550"/>
            <a:ext cx="4743450" cy="514350"/>
          </a:xfrm>
          <a:prstGeom prst="rect">
            <a:avLst/>
          </a:prstGeom>
        </p:spPr>
        <p:txBody>
          <a:bodyPr lIns="0" tIns="0" rIns="0" bIns="0"/>
          <a:lstStyle/>
          <a:p>
            <a:pPr>
              <a:defRPr sz="1650">
                <a:solidFill>
                  <a:srgbClr val="102030"/>
                </a:solidFill>
              </a:defRPr>
            </a:pPr>
            <a:r>
              <a:rPr sz="1650">
                <a:solidFill>
                  <a:srgbClr val="102030"/>
                </a:solidFill>
              </a:rPr>
              <a:t>• Stable is very sticky: 90.0% of Stable tract-months stay Stable in the next step.</a:t>
            </a:r>
          </a:p>
        </p:txBody>
      </p:sp>
      <p:sp>
        <p:nvSpPr>
          <p:cNvPr id="8" name="bullet-2">
            <a:extLst>
              <a:ext uri="{FF2B5EF4-FFF2-40B4-BE49-F238E27FC236}">
                <a16:creationId xmlns:a16="http://schemas.microsoft.com/office/drawing/2014/main" id="{4E10F8A5-4631-4658-A840-8321C41411CE}"/>
              </a:ext>
            </a:extLst>
          </p:cNvPr>
          <p:cNvSpPr>
            <a:spLocks noGrp="1"/>
          </p:cNvSpPr>
          <p:nvPr/>
        </p:nvSpPr>
        <p:spPr>
          <a:xfrm>
            <a:off x="10477500" y="4667250"/>
            <a:ext cx="4838700" cy="762000"/>
          </a:xfrm>
          <a:prstGeom prst="rect">
            <a:avLst/>
          </a:prstGeom>
        </p:spPr>
        <p:txBody>
          <a:bodyPr lIns="0" tIns="0" rIns="0" bIns="0"/>
          <a:lstStyle/>
          <a:p>
            <a:pPr>
              <a:defRPr sz="1650">
                <a:solidFill>
                  <a:srgbClr val="102030"/>
                </a:solidFill>
              </a:defRPr>
            </a:pPr>
            <a:r>
              <a:rPr sz="1650">
                <a:solidFill>
                  <a:srgbClr val="102030"/>
                </a:solidFill>
              </a:rPr>
              <a:t>• Rapid Deterioration is also sticky at 59.8%, and another 28.9% of those cases move into Chronic Distress rather than resolving quickly.</a:t>
            </a:r>
          </a:p>
        </p:txBody>
      </p:sp>
      <p:sp>
        <p:nvSpPr>
          <p:cNvPr id="9" name="bullet-3">
            <a:extLst>
              <a:ext uri="{FF2B5EF4-FFF2-40B4-BE49-F238E27FC236}">
                <a16:creationId xmlns:a16="http://schemas.microsoft.com/office/drawing/2014/main" id="{66E24091-B7F0-4398-8743-741617552237}"/>
              </a:ext>
            </a:extLst>
          </p:cNvPr>
          <p:cNvSpPr>
            <a:spLocks noGrp="1"/>
          </p:cNvSpPr>
          <p:nvPr/>
        </p:nvSpPr>
        <p:spPr>
          <a:xfrm>
            <a:off x="10477500" y="5543550"/>
            <a:ext cx="4933950" cy="762000"/>
          </a:xfrm>
          <a:prstGeom prst="rect">
            <a:avLst/>
          </a:prstGeom>
        </p:spPr>
        <p:txBody>
          <a:bodyPr lIns="0" tIns="0" rIns="0" bIns="0"/>
          <a:lstStyle/>
          <a:p>
            <a:pPr>
              <a:defRPr sz="1650">
                <a:solidFill>
                  <a:srgbClr val="102030"/>
                </a:solidFill>
              </a:defRPr>
            </a:pPr>
            <a:r>
              <a:rPr sz="1650">
                <a:solidFill>
                  <a:srgbClr val="102030"/>
                </a:solidFill>
              </a:rPr>
              <a:t>• Emerging Risk is mixed: 54.2% stay Emerging Risk, 26.3% move back to Stable, but 10.5% escalate to Rapid Deterioration.</a:t>
            </a:r>
          </a:p>
        </p:txBody>
      </p:sp>
      <p:sp>
        <p:nvSpPr>
          <p:cNvPr id="10" name="Rectangle 9">
            <a:extLst>
              <a:ext uri="{FF2B5EF4-FFF2-40B4-BE49-F238E27FC236}">
                <a16:creationId xmlns:a16="http://schemas.microsoft.com/office/drawing/2014/main" id="{47E521C5-11A7-4270-9DEF-2B066BF92CC2}"/>
              </a:ext>
            </a:extLst>
          </p:cNvPr>
          <p:cNvSpPr>
            <a:spLocks noGrp="1"/>
          </p:cNvSpPr>
          <p:nvPr/>
        </p:nvSpPr>
        <p:spPr>
          <a:xfrm>
            <a:off x="10477499" y="6477000"/>
            <a:ext cx="1696303" cy="266700"/>
          </a:xfrm>
          <a:prstGeom prst="rect">
            <a:avLst/>
          </a:prstGeom>
        </p:spPr>
        <p:txBody>
          <a:bodyPr lIns="0" tIns="0" rIns="0" bIns="0"/>
          <a:lstStyle/>
          <a:p>
            <a:pPr>
              <a:defRPr sz="1725" b="1">
                <a:solidFill>
                  <a:srgbClr val="2A7F8C"/>
                </a:solidFill>
              </a:defRPr>
            </a:pPr>
            <a:r>
              <a:rPr sz="1725" b="1" dirty="0">
                <a:solidFill>
                  <a:srgbClr val="2A7F8C"/>
                </a:solidFill>
              </a:rPr>
              <a:t>How to use it</a:t>
            </a:r>
          </a:p>
        </p:txBody>
      </p:sp>
      <p:sp>
        <p:nvSpPr>
          <p:cNvPr id="11" name="bullet-1">
            <a:extLst>
              <a:ext uri="{FF2B5EF4-FFF2-40B4-BE49-F238E27FC236}">
                <a16:creationId xmlns:a16="http://schemas.microsoft.com/office/drawing/2014/main" id="{4345D88B-7C3D-418C-8606-83A3709F3123}"/>
              </a:ext>
            </a:extLst>
          </p:cNvPr>
          <p:cNvSpPr>
            <a:spLocks noGrp="1"/>
          </p:cNvSpPr>
          <p:nvPr/>
        </p:nvSpPr>
        <p:spPr>
          <a:xfrm>
            <a:off x="10477500" y="6915150"/>
            <a:ext cx="4514850" cy="438150"/>
          </a:xfrm>
          <a:prstGeom prst="rect">
            <a:avLst/>
          </a:prstGeom>
        </p:spPr>
        <p:txBody>
          <a:bodyPr lIns="0" tIns="0" rIns="0" bIns="0"/>
          <a:lstStyle/>
          <a:p>
            <a:pPr>
              <a:defRPr sz="1425">
                <a:solidFill>
                  <a:srgbClr val="102030"/>
                </a:solidFill>
              </a:defRPr>
            </a:pPr>
            <a:r>
              <a:rPr sz="1425">
                <a:solidFill>
                  <a:srgbClr val="102030"/>
                </a:solidFill>
              </a:rPr>
              <a:t>• Elevate action when a tract is forecast-high and the relevant transition path is historically sticky.</a:t>
            </a:r>
          </a:p>
        </p:txBody>
      </p:sp>
      <p:sp>
        <p:nvSpPr>
          <p:cNvPr id="12" name="bullet-2">
            <a:extLst>
              <a:ext uri="{FF2B5EF4-FFF2-40B4-BE49-F238E27FC236}">
                <a16:creationId xmlns:a16="http://schemas.microsoft.com/office/drawing/2014/main" id="{D0D2D4F9-1175-4602-A420-388360EA4302}"/>
              </a:ext>
            </a:extLst>
          </p:cNvPr>
          <p:cNvSpPr>
            <a:spLocks noGrp="1"/>
          </p:cNvSpPr>
          <p:nvPr/>
        </p:nvSpPr>
        <p:spPr>
          <a:xfrm>
            <a:off x="10477500" y="7467600"/>
            <a:ext cx="4800600" cy="438150"/>
          </a:xfrm>
          <a:prstGeom prst="rect">
            <a:avLst/>
          </a:prstGeom>
        </p:spPr>
        <p:txBody>
          <a:bodyPr lIns="0" tIns="0" rIns="0" bIns="0"/>
          <a:lstStyle/>
          <a:p>
            <a:pPr>
              <a:defRPr sz="1425">
                <a:solidFill>
                  <a:srgbClr val="102030"/>
                </a:solidFill>
              </a:defRPr>
            </a:pPr>
            <a:r>
              <a:rPr sz="1425">
                <a:solidFill>
                  <a:srgbClr val="102030"/>
                </a:solidFill>
              </a:rPr>
              <a:t>• Treat improving signals more cautiously when the broader state system still shows high persistence in distress states.</a:t>
            </a:r>
          </a:p>
        </p:txBody>
      </p:sp>
      <p:sp>
        <p:nvSpPr>
          <p:cNvPr id="13" name="footer">
            <a:extLst>
              <a:ext uri="{FF2B5EF4-FFF2-40B4-BE49-F238E27FC236}">
                <a16:creationId xmlns:a16="http://schemas.microsoft.com/office/drawing/2014/main" id="{BCD50E13-3596-469F-AFE6-28D63B9323CA}"/>
              </a:ext>
            </a:extLst>
          </p:cNvPr>
          <p:cNvSpPr>
            <a:spLocks noGrp="1"/>
          </p:cNvSpPr>
          <p:nvPr/>
        </p:nvSpPr>
        <p:spPr>
          <a:xfrm>
            <a:off x="800100" y="9486900"/>
            <a:ext cx="16687800" cy="152400"/>
          </a:xfrm>
          <a:prstGeom prst="rect">
            <a:avLst/>
          </a:prstGeom>
        </p:spPr>
        <p:txBody>
          <a:bodyPr lIns="0" tIns="0" rIns="0" bIns="0"/>
          <a:lstStyle/>
          <a:p>
            <a:pPr>
              <a:defRPr sz="900">
                <a:solidFill>
                  <a:srgbClr val="66778A"/>
                </a:solidFill>
              </a:defRPr>
            </a:pPr>
            <a:r>
              <a:rPr sz="900">
                <a:solidFill>
                  <a:srgbClr val="66778A"/>
                </a:solidFill>
              </a:rPr>
              <a:t>Selected transition probabilities from analytics.neighborhood_transition_matrix: Stable→Stable 0.900, Rapid Deterioration→Rapid Deterioration 0.598, Rapid Deterioration→Chronic Distress 0.289, Emerging Risk→Rapid Deterioration 0.105.</a:t>
            </a:r>
          </a:p>
        </p:txBody>
      </p:sp>
    </p:spTree>
    <p:extLst>
      <p:ext uri="{BB962C8B-B14F-4D97-AF65-F5344CB8AC3E}">
        <p14:creationId xmlns:p14="http://schemas.microsoft.com/office/powerpoint/2010/main" val="1334001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background">
            <a:extLst>
              <a:ext uri="{FF2B5EF4-FFF2-40B4-BE49-F238E27FC236}">
                <a16:creationId xmlns:a16="http://schemas.microsoft.com/office/drawing/2014/main" id="{FC2DAF26-53A5-403F-BCE6-C89E4570C24B}"/>
              </a:ext>
            </a:extLst>
          </p:cNvPr>
          <p:cNvSpPr>
            <a:spLocks noGrp="1"/>
          </p:cNvSpPr>
          <p:nvPr/>
        </p:nvSpPr>
        <p:spPr>
          <a:xfrm>
            <a:off x="0" y="25590"/>
            <a:ext cx="18288000" cy="10287000"/>
          </a:xfrm>
          <a:prstGeom prst="rect">
            <a:avLst/>
          </a:prstGeom>
          <a:solidFill>
            <a:srgbClr val="F6F3EE"/>
          </a:solidFill>
        </p:spPr>
        <p:txBody>
          <a:bodyPr/>
          <a:lstStyle/>
          <a:p>
            <a:endParaRPr lang="en-US"/>
          </a:p>
        </p:txBody>
      </p:sp>
      <p:sp>
        <p:nvSpPr>
          <p:cNvPr id="2" name="kicker">
            <a:extLst>
              <a:ext uri="{FF2B5EF4-FFF2-40B4-BE49-F238E27FC236}">
                <a16:creationId xmlns:a16="http://schemas.microsoft.com/office/drawing/2014/main" id="{CD5220DB-F97F-45FA-8AC2-3996B49F3216}"/>
              </a:ext>
            </a:extLst>
          </p:cNvPr>
          <p:cNvSpPr>
            <a:spLocks noGrp="1"/>
          </p:cNvSpPr>
          <p:nvPr/>
        </p:nvSpPr>
        <p:spPr>
          <a:xfrm>
            <a:off x="800100" y="704850"/>
            <a:ext cx="2857500" cy="419100"/>
          </a:xfrm>
          <a:prstGeom prst="rect">
            <a:avLst/>
          </a:prstGeom>
        </p:spPr>
        <p:txBody>
          <a:bodyPr lIns="0" tIns="0" rIns="0" bIns="0"/>
          <a:lstStyle/>
          <a:p>
            <a:pPr>
              <a:defRPr sz="1350" b="1">
                <a:solidFill>
                  <a:srgbClr val="2A7F8C"/>
                </a:solidFill>
              </a:defRPr>
            </a:pPr>
            <a:r>
              <a:rPr sz="1350" b="1">
                <a:solidFill>
                  <a:srgbClr val="2A7F8C"/>
                </a:solidFill>
              </a:rPr>
              <a:t>RECOMMENDED OPERATING PLAYBOOK</a:t>
            </a:r>
          </a:p>
        </p:txBody>
      </p:sp>
      <p:sp>
        <p:nvSpPr>
          <p:cNvPr id="3" name="title">
            <a:extLst>
              <a:ext uri="{FF2B5EF4-FFF2-40B4-BE49-F238E27FC236}">
                <a16:creationId xmlns:a16="http://schemas.microsoft.com/office/drawing/2014/main" id="{83A0FAFF-6754-4660-BF30-6556594721F3}"/>
              </a:ext>
            </a:extLst>
          </p:cNvPr>
          <p:cNvSpPr>
            <a:spLocks noGrp="1"/>
          </p:cNvSpPr>
          <p:nvPr/>
        </p:nvSpPr>
        <p:spPr>
          <a:xfrm>
            <a:off x="800100" y="1257300"/>
            <a:ext cx="10763250" cy="1333500"/>
          </a:xfrm>
          <a:prstGeom prst="rect">
            <a:avLst/>
          </a:prstGeom>
        </p:spPr>
        <p:txBody>
          <a:bodyPr lIns="0" tIns="0" rIns="0" bIns="0"/>
          <a:lstStyle/>
          <a:p>
            <a:pPr>
              <a:defRPr sz="4350" b="1">
                <a:solidFill>
                  <a:srgbClr val="102030"/>
                </a:solidFill>
              </a:defRPr>
            </a:pPr>
            <a:r>
              <a:rPr sz="4350" b="1">
                <a:solidFill>
                  <a:srgbClr val="102030"/>
                </a:solidFill>
              </a:rPr>
              <a:t>The practical takeaway: use the dashboard as a layered triage workflow.</a:t>
            </a:r>
          </a:p>
        </p:txBody>
      </p:sp>
      <p:sp>
        <p:nvSpPr>
          <p:cNvPr id="4" name="subtitle">
            <a:extLst>
              <a:ext uri="{FF2B5EF4-FFF2-40B4-BE49-F238E27FC236}">
                <a16:creationId xmlns:a16="http://schemas.microsoft.com/office/drawing/2014/main" id="{0752A275-C00D-4DD9-BD44-03E84D7D118D}"/>
              </a:ext>
            </a:extLst>
          </p:cNvPr>
          <p:cNvSpPr>
            <a:spLocks noGrp="1"/>
          </p:cNvSpPr>
          <p:nvPr/>
        </p:nvSpPr>
        <p:spPr>
          <a:xfrm>
            <a:off x="800100" y="2705100"/>
            <a:ext cx="11010900" cy="571500"/>
          </a:xfrm>
          <a:prstGeom prst="rect">
            <a:avLst/>
          </a:prstGeom>
        </p:spPr>
        <p:txBody>
          <a:bodyPr lIns="0" tIns="0" rIns="0" bIns="0"/>
          <a:lstStyle/>
          <a:p>
            <a:pPr>
              <a:defRPr sz="1875">
                <a:solidFill>
                  <a:srgbClr val="415A77"/>
                </a:solidFill>
              </a:defRPr>
            </a:pPr>
            <a:r>
              <a:rPr sz="1875">
                <a:solidFill>
                  <a:srgbClr val="415A77"/>
                </a:solidFill>
              </a:rPr>
              <a:t>No single page is the answer by itself. The tool gets stronger when you move from visible distress, to future risk, to tract-level explanation, and then back to intervention decisions.</a:t>
            </a:r>
          </a:p>
        </p:txBody>
      </p:sp>
      <p:sp>
        <p:nvSpPr>
          <p:cNvPr id="5" name="step-number-1">
            <a:extLst>
              <a:ext uri="{FF2B5EF4-FFF2-40B4-BE49-F238E27FC236}">
                <a16:creationId xmlns:a16="http://schemas.microsoft.com/office/drawing/2014/main" id="{A26EBE3A-1ED2-4034-BDFE-625E788D6418}"/>
              </a:ext>
            </a:extLst>
          </p:cNvPr>
          <p:cNvSpPr>
            <a:spLocks noGrp="1"/>
          </p:cNvSpPr>
          <p:nvPr/>
        </p:nvSpPr>
        <p:spPr>
          <a:xfrm>
            <a:off x="800100" y="3600450"/>
            <a:ext cx="3124200" cy="647700"/>
          </a:xfrm>
          <a:prstGeom prst="rect">
            <a:avLst/>
          </a:prstGeom>
        </p:spPr>
        <p:txBody>
          <a:bodyPr lIns="0" tIns="0" rIns="0" bIns="0"/>
          <a:lstStyle/>
          <a:p>
            <a:pPr>
              <a:defRPr sz="4200" b="1">
                <a:solidFill>
                  <a:srgbClr val="C98A2E"/>
                </a:solidFill>
              </a:defRPr>
            </a:pPr>
            <a:r>
              <a:rPr sz="4200" b="1">
                <a:solidFill>
                  <a:srgbClr val="C98A2E"/>
                </a:solidFill>
              </a:rPr>
              <a:t>1</a:t>
            </a:r>
          </a:p>
        </p:txBody>
      </p:sp>
      <p:sp>
        <p:nvSpPr>
          <p:cNvPr id="6" name="step-page-1">
            <a:extLst>
              <a:ext uri="{FF2B5EF4-FFF2-40B4-BE49-F238E27FC236}">
                <a16:creationId xmlns:a16="http://schemas.microsoft.com/office/drawing/2014/main" id="{25F4E1E3-2D9B-4D22-8462-FA0003B1247C}"/>
              </a:ext>
            </a:extLst>
          </p:cNvPr>
          <p:cNvSpPr>
            <a:spLocks noGrp="1"/>
          </p:cNvSpPr>
          <p:nvPr/>
        </p:nvSpPr>
        <p:spPr>
          <a:xfrm>
            <a:off x="800100" y="4343400"/>
            <a:ext cx="1390650" cy="495300"/>
          </a:xfrm>
          <a:prstGeom prst="rect">
            <a:avLst/>
          </a:prstGeom>
        </p:spPr>
        <p:txBody>
          <a:bodyPr lIns="0" tIns="0" rIns="0" bIns="0"/>
          <a:lstStyle/>
          <a:p>
            <a:pPr>
              <a:defRPr sz="1575" b="1">
                <a:solidFill>
                  <a:srgbClr val="102030"/>
                </a:solidFill>
              </a:defRPr>
            </a:pPr>
            <a:r>
              <a:rPr sz="1575" b="1">
                <a:solidFill>
                  <a:srgbClr val="102030"/>
                </a:solidFill>
              </a:rPr>
              <a:t>Hotspot Analysis</a:t>
            </a:r>
          </a:p>
        </p:txBody>
      </p:sp>
      <p:sp>
        <p:nvSpPr>
          <p:cNvPr id="7" name="step-action-1">
            <a:extLst>
              <a:ext uri="{FF2B5EF4-FFF2-40B4-BE49-F238E27FC236}">
                <a16:creationId xmlns:a16="http://schemas.microsoft.com/office/drawing/2014/main" id="{7AB84C15-41BB-49B3-B5B7-815D6587B7C0}"/>
              </a:ext>
            </a:extLst>
          </p:cNvPr>
          <p:cNvSpPr>
            <a:spLocks noGrp="1"/>
          </p:cNvSpPr>
          <p:nvPr/>
        </p:nvSpPr>
        <p:spPr>
          <a:xfrm>
            <a:off x="800100" y="4914900"/>
            <a:ext cx="2495550" cy="400050"/>
          </a:xfrm>
          <a:prstGeom prst="rect">
            <a:avLst/>
          </a:prstGeom>
        </p:spPr>
        <p:txBody>
          <a:bodyPr lIns="0" tIns="0" rIns="0" bIns="0"/>
          <a:lstStyle/>
          <a:p>
            <a:pPr>
              <a:defRPr sz="1275">
                <a:solidFill>
                  <a:srgbClr val="415A77"/>
                </a:solidFill>
              </a:defRPr>
            </a:pPr>
            <a:r>
              <a:rPr sz="1275">
                <a:solidFill>
                  <a:srgbClr val="415A77"/>
                </a:solidFill>
              </a:rPr>
              <a:t>Find what is already concentrated and hard to ignore.</a:t>
            </a:r>
          </a:p>
        </p:txBody>
      </p:sp>
      <p:sp>
        <p:nvSpPr>
          <p:cNvPr id="8" name="step-number-2">
            <a:extLst>
              <a:ext uri="{FF2B5EF4-FFF2-40B4-BE49-F238E27FC236}">
                <a16:creationId xmlns:a16="http://schemas.microsoft.com/office/drawing/2014/main" id="{3C17C051-A848-4387-AEB3-771F661CA8CA}"/>
              </a:ext>
            </a:extLst>
          </p:cNvPr>
          <p:cNvSpPr>
            <a:spLocks noGrp="1"/>
          </p:cNvSpPr>
          <p:nvPr/>
        </p:nvSpPr>
        <p:spPr>
          <a:xfrm>
            <a:off x="4191000" y="3600450"/>
            <a:ext cx="3124200" cy="647700"/>
          </a:xfrm>
          <a:prstGeom prst="rect">
            <a:avLst/>
          </a:prstGeom>
        </p:spPr>
        <p:txBody>
          <a:bodyPr lIns="0" tIns="0" rIns="0" bIns="0"/>
          <a:lstStyle/>
          <a:p>
            <a:pPr>
              <a:defRPr sz="4200" b="1">
                <a:solidFill>
                  <a:srgbClr val="C98A2E"/>
                </a:solidFill>
              </a:defRPr>
            </a:pPr>
            <a:r>
              <a:rPr sz="4200" b="1">
                <a:solidFill>
                  <a:srgbClr val="C98A2E"/>
                </a:solidFill>
              </a:rPr>
              <a:t>2</a:t>
            </a:r>
          </a:p>
        </p:txBody>
      </p:sp>
      <p:sp>
        <p:nvSpPr>
          <p:cNvPr id="9" name="step-page-2">
            <a:extLst>
              <a:ext uri="{FF2B5EF4-FFF2-40B4-BE49-F238E27FC236}">
                <a16:creationId xmlns:a16="http://schemas.microsoft.com/office/drawing/2014/main" id="{C453852F-014C-416B-856F-1F595F971217}"/>
              </a:ext>
            </a:extLst>
          </p:cNvPr>
          <p:cNvSpPr>
            <a:spLocks noGrp="1"/>
          </p:cNvSpPr>
          <p:nvPr/>
        </p:nvSpPr>
        <p:spPr>
          <a:xfrm>
            <a:off x="4191000" y="4343400"/>
            <a:ext cx="1085850" cy="247650"/>
          </a:xfrm>
          <a:prstGeom prst="rect">
            <a:avLst/>
          </a:prstGeom>
        </p:spPr>
        <p:txBody>
          <a:bodyPr lIns="0" tIns="0" rIns="0" bIns="0"/>
          <a:lstStyle/>
          <a:p>
            <a:pPr>
              <a:defRPr sz="1575" b="1">
                <a:solidFill>
                  <a:srgbClr val="102030"/>
                </a:solidFill>
              </a:defRPr>
            </a:pPr>
            <a:r>
              <a:rPr sz="1575" b="1">
                <a:solidFill>
                  <a:srgbClr val="102030"/>
                </a:solidFill>
              </a:rPr>
              <a:t>Forecast Risk</a:t>
            </a:r>
          </a:p>
        </p:txBody>
      </p:sp>
      <p:sp>
        <p:nvSpPr>
          <p:cNvPr id="10" name="step-action-2">
            <a:extLst>
              <a:ext uri="{FF2B5EF4-FFF2-40B4-BE49-F238E27FC236}">
                <a16:creationId xmlns:a16="http://schemas.microsoft.com/office/drawing/2014/main" id="{0E51070E-E8B0-4319-AB7C-AFB3C13BB570}"/>
              </a:ext>
            </a:extLst>
          </p:cNvPr>
          <p:cNvSpPr>
            <a:spLocks noGrp="1"/>
          </p:cNvSpPr>
          <p:nvPr/>
        </p:nvSpPr>
        <p:spPr>
          <a:xfrm>
            <a:off x="4191000" y="4914900"/>
            <a:ext cx="2705100" cy="400050"/>
          </a:xfrm>
          <a:prstGeom prst="rect">
            <a:avLst/>
          </a:prstGeom>
        </p:spPr>
        <p:txBody>
          <a:bodyPr lIns="0" tIns="0" rIns="0" bIns="0"/>
          <a:lstStyle/>
          <a:p>
            <a:pPr>
              <a:defRPr sz="1275">
                <a:solidFill>
                  <a:srgbClr val="415A77"/>
                </a:solidFill>
              </a:defRPr>
            </a:pPr>
            <a:r>
              <a:rPr sz="1275" dirty="0">
                <a:solidFill>
                  <a:srgbClr val="415A77"/>
                </a:solidFill>
              </a:rPr>
              <a:t>Identify which tracts are most likely to tip next.</a:t>
            </a:r>
          </a:p>
        </p:txBody>
      </p:sp>
      <p:sp>
        <p:nvSpPr>
          <p:cNvPr id="11" name="step-number-3">
            <a:extLst>
              <a:ext uri="{FF2B5EF4-FFF2-40B4-BE49-F238E27FC236}">
                <a16:creationId xmlns:a16="http://schemas.microsoft.com/office/drawing/2014/main" id="{D86E388D-1C99-42B5-97BA-15E25DC0E6E0}"/>
              </a:ext>
            </a:extLst>
          </p:cNvPr>
          <p:cNvSpPr>
            <a:spLocks noGrp="1"/>
          </p:cNvSpPr>
          <p:nvPr/>
        </p:nvSpPr>
        <p:spPr>
          <a:xfrm>
            <a:off x="7581900" y="3600450"/>
            <a:ext cx="3124200" cy="647700"/>
          </a:xfrm>
          <a:prstGeom prst="rect">
            <a:avLst/>
          </a:prstGeom>
        </p:spPr>
        <p:txBody>
          <a:bodyPr lIns="0" tIns="0" rIns="0" bIns="0"/>
          <a:lstStyle/>
          <a:p>
            <a:pPr>
              <a:defRPr sz="4200" b="1">
                <a:solidFill>
                  <a:srgbClr val="C98A2E"/>
                </a:solidFill>
              </a:defRPr>
            </a:pPr>
            <a:r>
              <a:rPr sz="4200" b="1">
                <a:solidFill>
                  <a:srgbClr val="C98A2E"/>
                </a:solidFill>
              </a:rPr>
              <a:t>3</a:t>
            </a:r>
          </a:p>
        </p:txBody>
      </p:sp>
      <p:sp>
        <p:nvSpPr>
          <p:cNvPr id="12" name="step-page-3">
            <a:extLst>
              <a:ext uri="{FF2B5EF4-FFF2-40B4-BE49-F238E27FC236}">
                <a16:creationId xmlns:a16="http://schemas.microsoft.com/office/drawing/2014/main" id="{05E0D740-B925-4DDB-820B-F4AB841DE723}"/>
              </a:ext>
            </a:extLst>
          </p:cNvPr>
          <p:cNvSpPr>
            <a:spLocks noGrp="1"/>
          </p:cNvSpPr>
          <p:nvPr/>
        </p:nvSpPr>
        <p:spPr>
          <a:xfrm>
            <a:off x="7581900" y="4343400"/>
            <a:ext cx="2457450" cy="495300"/>
          </a:xfrm>
          <a:prstGeom prst="rect">
            <a:avLst/>
          </a:prstGeom>
        </p:spPr>
        <p:txBody>
          <a:bodyPr lIns="0" tIns="0" rIns="0" bIns="0"/>
          <a:lstStyle/>
          <a:p>
            <a:pPr>
              <a:defRPr sz="1575" b="1">
                <a:solidFill>
                  <a:srgbClr val="102030"/>
                </a:solidFill>
              </a:defRPr>
            </a:pPr>
            <a:r>
              <a:rPr sz="1575" b="1">
                <a:solidFill>
                  <a:srgbClr val="102030"/>
                </a:solidFill>
              </a:rPr>
              <a:t>Early Intervention Candidates</a:t>
            </a:r>
          </a:p>
        </p:txBody>
      </p:sp>
      <p:sp>
        <p:nvSpPr>
          <p:cNvPr id="13" name="step-action-3">
            <a:extLst>
              <a:ext uri="{FF2B5EF4-FFF2-40B4-BE49-F238E27FC236}">
                <a16:creationId xmlns:a16="http://schemas.microsoft.com/office/drawing/2014/main" id="{0DE11D2D-9B16-45B3-96D6-19C988FBF6E3}"/>
              </a:ext>
            </a:extLst>
          </p:cNvPr>
          <p:cNvSpPr>
            <a:spLocks noGrp="1"/>
          </p:cNvSpPr>
          <p:nvPr/>
        </p:nvSpPr>
        <p:spPr>
          <a:xfrm>
            <a:off x="7581900" y="4914900"/>
            <a:ext cx="2743200" cy="590550"/>
          </a:xfrm>
          <a:prstGeom prst="rect">
            <a:avLst/>
          </a:prstGeom>
        </p:spPr>
        <p:txBody>
          <a:bodyPr lIns="0" tIns="0" rIns="0" bIns="0"/>
          <a:lstStyle/>
          <a:p>
            <a:pPr>
              <a:defRPr sz="1275">
                <a:solidFill>
                  <a:srgbClr val="415A77"/>
                </a:solidFill>
              </a:defRPr>
            </a:pPr>
            <a:r>
              <a:rPr sz="1275">
                <a:solidFill>
                  <a:srgbClr val="415A77"/>
                </a:solidFill>
              </a:rPr>
              <a:t>Narrow to non-severe tracts where action can still be earlier than crisis response.</a:t>
            </a:r>
          </a:p>
        </p:txBody>
      </p:sp>
      <p:sp>
        <p:nvSpPr>
          <p:cNvPr id="14" name="step-number-4">
            <a:extLst>
              <a:ext uri="{FF2B5EF4-FFF2-40B4-BE49-F238E27FC236}">
                <a16:creationId xmlns:a16="http://schemas.microsoft.com/office/drawing/2014/main" id="{D76A84BB-A288-4503-B25A-D39DCF204929}"/>
              </a:ext>
            </a:extLst>
          </p:cNvPr>
          <p:cNvSpPr>
            <a:spLocks noGrp="1"/>
          </p:cNvSpPr>
          <p:nvPr/>
        </p:nvSpPr>
        <p:spPr>
          <a:xfrm>
            <a:off x="10972800" y="3600450"/>
            <a:ext cx="3124200" cy="647700"/>
          </a:xfrm>
          <a:prstGeom prst="rect">
            <a:avLst/>
          </a:prstGeom>
        </p:spPr>
        <p:txBody>
          <a:bodyPr lIns="0" tIns="0" rIns="0" bIns="0"/>
          <a:lstStyle/>
          <a:p>
            <a:pPr>
              <a:defRPr sz="4200" b="1">
                <a:solidFill>
                  <a:srgbClr val="C98A2E"/>
                </a:solidFill>
              </a:defRPr>
            </a:pPr>
            <a:r>
              <a:rPr sz="4200" b="1">
                <a:solidFill>
                  <a:srgbClr val="C98A2E"/>
                </a:solidFill>
              </a:rPr>
              <a:t>4</a:t>
            </a:r>
          </a:p>
        </p:txBody>
      </p:sp>
      <p:sp>
        <p:nvSpPr>
          <p:cNvPr id="15" name="step-page-4">
            <a:extLst>
              <a:ext uri="{FF2B5EF4-FFF2-40B4-BE49-F238E27FC236}">
                <a16:creationId xmlns:a16="http://schemas.microsoft.com/office/drawing/2014/main" id="{80B68F59-D1A0-41E6-99F7-5D2C02130D95}"/>
              </a:ext>
            </a:extLst>
          </p:cNvPr>
          <p:cNvSpPr>
            <a:spLocks noGrp="1"/>
          </p:cNvSpPr>
          <p:nvPr/>
        </p:nvSpPr>
        <p:spPr>
          <a:xfrm>
            <a:off x="10972800" y="4343400"/>
            <a:ext cx="1504950" cy="495300"/>
          </a:xfrm>
          <a:prstGeom prst="rect">
            <a:avLst/>
          </a:prstGeom>
        </p:spPr>
        <p:txBody>
          <a:bodyPr lIns="0" tIns="0" rIns="0" bIns="0"/>
          <a:lstStyle/>
          <a:p>
            <a:pPr>
              <a:defRPr sz="1575" b="1">
                <a:solidFill>
                  <a:srgbClr val="102030"/>
                </a:solidFill>
              </a:defRPr>
            </a:pPr>
            <a:r>
              <a:rPr sz="1575" b="1">
                <a:solidFill>
                  <a:srgbClr val="102030"/>
                </a:solidFill>
              </a:rPr>
              <a:t>Forecast Risk Map</a:t>
            </a:r>
          </a:p>
        </p:txBody>
      </p:sp>
      <p:sp>
        <p:nvSpPr>
          <p:cNvPr id="16" name="step-action-4">
            <a:extLst>
              <a:ext uri="{FF2B5EF4-FFF2-40B4-BE49-F238E27FC236}">
                <a16:creationId xmlns:a16="http://schemas.microsoft.com/office/drawing/2014/main" id="{CE6ACE1F-694E-48F9-BD76-46D7C544038C}"/>
              </a:ext>
            </a:extLst>
          </p:cNvPr>
          <p:cNvSpPr>
            <a:spLocks noGrp="1"/>
          </p:cNvSpPr>
          <p:nvPr/>
        </p:nvSpPr>
        <p:spPr>
          <a:xfrm>
            <a:off x="10972800" y="4914900"/>
            <a:ext cx="2705100" cy="400050"/>
          </a:xfrm>
          <a:prstGeom prst="rect">
            <a:avLst/>
          </a:prstGeom>
        </p:spPr>
        <p:txBody>
          <a:bodyPr lIns="0" tIns="0" rIns="0" bIns="0"/>
          <a:lstStyle/>
          <a:p>
            <a:pPr>
              <a:defRPr sz="1275">
                <a:solidFill>
                  <a:srgbClr val="415A77"/>
                </a:solidFill>
              </a:defRPr>
            </a:pPr>
            <a:r>
              <a:rPr sz="1275">
                <a:solidFill>
                  <a:srgbClr val="415A77"/>
                </a:solidFill>
              </a:rPr>
              <a:t>See whether the risk is isolated or part of a spatial pattern.</a:t>
            </a:r>
          </a:p>
        </p:txBody>
      </p:sp>
      <p:sp>
        <p:nvSpPr>
          <p:cNvPr id="17" name="step-number-5">
            <a:extLst>
              <a:ext uri="{FF2B5EF4-FFF2-40B4-BE49-F238E27FC236}">
                <a16:creationId xmlns:a16="http://schemas.microsoft.com/office/drawing/2014/main" id="{D9E4717C-D880-4EBD-BD0D-978594FACF00}"/>
              </a:ext>
            </a:extLst>
          </p:cNvPr>
          <p:cNvSpPr>
            <a:spLocks noGrp="1"/>
          </p:cNvSpPr>
          <p:nvPr/>
        </p:nvSpPr>
        <p:spPr>
          <a:xfrm>
            <a:off x="14363700" y="3600450"/>
            <a:ext cx="3124200" cy="647700"/>
          </a:xfrm>
          <a:prstGeom prst="rect">
            <a:avLst/>
          </a:prstGeom>
        </p:spPr>
        <p:txBody>
          <a:bodyPr lIns="0" tIns="0" rIns="0" bIns="0"/>
          <a:lstStyle/>
          <a:p>
            <a:pPr>
              <a:defRPr sz="4200" b="1">
                <a:solidFill>
                  <a:srgbClr val="C98A2E"/>
                </a:solidFill>
              </a:defRPr>
            </a:pPr>
            <a:r>
              <a:rPr sz="4200" b="1">
                <a:solidFill>
                  <a:srgbClr val="C98A2E"/>
                </a:solidFill>
              </a:rPr>
              <a:t>5</a:t>
            </a:r>
          </a:p>
        </p:txBody>
      </p:sp>
      <p:sp>
        <p:nvSpPr>
          <p:cNvPr id="18" name="step-page-5">
            <a:extLst>
              <a:ext uri="{FF2B5EF4-FFF2-40B4-BE49-F238E27FC236}">
                <a16:creationId xmlns:a16="http://schemas.microsoft.com/office/drawing/2014/main" id="{C58393BC-08E8-454A-B128-95E4D90058D8}"/>
              </a:ext>
            </a:extLst>
          </p:cNvPr>
          <p:cNvSpPr>
            <a:spLocks noGrp="1"/>
          </p:cNvSpPr>
          <p:nvPr/>
        </p:nvSpPr>
        <p:spPr>
          <a:xfrm>
            <a:off x="14363700" y="4343400"/>
            <a:ext cx="2705100" cy="495300"/>
          </a:xfrm>
          <a:prstGeom prst="rect">
            <a:avLst/>
          </a:prstGeom>
        </p:spPr>
        <p:txBody>
          <a:bodyPr lIns="0" tIns="0" rIns="0" bIns="0"/>
          <a:lstStyle/>
          <a:p>
            <a:pPr>
              <a:defRPr sz="1575" b="1">
                <a:solidFill>
                  <a:srgbClr val="102030"/>
                </a:solidFill>
              </a:defRPr>
            </a:pPr>
            <a:r>
              <a:rPr sz="1575" b="1">
                <a:solidFill>
                  <a:srgbClr val="102030"/>
                </a:solidFill>
              </a:rPr>
              <a:t>Tract Explorer + State Transitions</a:t>
            </a:r>
          </a:p>
        </p:txBody>
      </p:sp>
      <p:sp>
        <p:nvSpPr>
          <p:cNvPr id="19" name="step-action-5">
            <a:extLst>
              <a:ext uri="{FF2B5EF4-FFF2-40B4-BE49-F238E27FC236}">
                <a16:creationId xmlns:a16="http://schemas.microsoft.com/office/drawing/2014/main" id="{3A930C97-7747-4C74-BC11-8C275407CE41}"/>
              </a:ext>
            </a:extLst>
          </p:cNvPr>
          <p:cNvSpPr>
            <a:spLocks noGrp="1"/>
          </p:cNvSpPr>
          <p:nvPr/>
        </p:nvSpPr>
        <p:spPr>
          <a:xfrm>
            <a:off x="14363700" y="4914900"/>
            <a:ext cx="2609850" cy="400050"/>
          </a:xfrm>
          <a:prstGeom prst="rect">
            <a:avLst/>
          </a:prstGeom>
        </p:spPr>
        <p:txBody>
          <a:bodyPr lIns="0" tIns="0" rIns="0" bIns="0"/>
          <a:lstStyle/>
          <a:p>
            <a:pPr>
              <a:defRPr sz="1275">
                <a:solidFill>
                  <a:srgbClr val="415A77"/>
                </a:solidFill>
              </a:defRPr>
            </a:pPr>
            <a:r>
              <a:rPr sz="1275">
                <a:solidFill>
                  <a:srgbClr val="415A77"/>
                </a:solidFill>
              </a:rPr>
              <a:t>Validate local history and judge persistence before escalating resources.</a:t>
            </a:r>
          </a:p>
        </p:txBody>
      </p:sp>
      <p:sp>
        <p:nvSpPr>
          <p:cNvPr id="20" name="closing-panel">
            <a:extLst>
              <a:ext uri="{FF2B5EF4-FFF2-40B4-BE49-F238E27FC236}">
                <a16:creationId xmlns:a16="http://schemas.microsoft.com/office/drawing/2014/main" id="{4EB57B1F-B613-4B72-9E47-2BBD2BB30459}"/>
              </a:ext>
            </a:extLst>
          </p:cNvPr>
          <p:cNvSpPr>
            <a:spLocks noGrp="1"/>
          </p:cNvSpPr>
          <p:nvPr/>
        </p:nvSpPr>
        <p:spPr>
          <a:xfrm>
            <a:off x="800100" y="5821680"/>
            <a:ext cx="16687800" cy="1371600"/>
          </a:xfrm>
          <a:prstGeom prst="rect">
            <a:avLst/>
          </a:prstGeom>
          <a:solidFill>
            <a:srgbClr val="DCECEF"/>
          </a:solidFill>
        </p:spPr>
        <p:txBody>
          <a:bodyPr/>
          <a:lstStyle/>
          <a:p>
            <a:endParaRPr lang="en-US"/>
          </a:p>
        </p:txBody>
      </p:sp>
      <p:sp>
        <p:nvSpPr>
          <p:cNvPr id="21" name="Rectangle 20">
            <a:extLst>
              <a:ext uri="{FF2B5EF4-FFF2-40B4-BE49-F238E27FC236}">
                <a16:creationId xmlns:a16="http://schemas.microsoft.com/office/drawing/2014/main" id="{6B201EEF-8E3C-4408-A829-56E0B5651A9A}"/>
              </a:ext>
            </a:extLst>
          </p:cNvPr>
          <p:cNvSpPr>
            <a:spLocks noGrp="1"/>
          </p:cNvSpPr>
          <p:nvPr/>
        </p:nvSpPr>
        <p:spPr>
          <a:xfrm>
            <a:off x="1066800" y="6057900"/>
            <a:ext cx="16154400" cy="304800"/>
          </a:xfrm>
          <a:prstGeom prst="rect">
            <a:avLst/>
          </a:prstGeom>
        </p:spPr>
        <p:txBody>
          <a:bodyPr lIns="0" tIns="0" rIns="0" bIns="0"/>
          <a:lstStyle/>
          <a:p>
            <a:pPr>
              <a:defRPr sz="1950" b="1">
                <a:solidFill>
                  <a:srgbClr val="102030"/>
                </a:solidFill>
              </a:defRPr>
            </a:pPr>
            <a:r>
              <a:rPr sz="1950" b="1">
                <a:solidFill>
                  <a:srgbClr val="102030"/>
                </a:solidFill>
              </a:rPr>
              <a:t>What this tool is best at</a:t>
            </a:r>
          </a:p>
        </p:txBody>
      </p:sp>
      <p:sp>
        <p:nvSpPr>
          <p:cNvPr id="22" name="Rectangle 21">
            <a:extLst>
              <a:ext uri="{FF2B5EF4-FFF2-40B4-BE49-F238E27FC236}">
                <a16:creationId xmlns:a16="http://schemas.microsoft.com/office/drawing/2014/main" id="{80BAAC8C-09AB-46EB-B3F1-95BCB296410B}"/>
              </a:ext>
            </a:extLst>
          </p:cNvPr>
          <p:cNvSpPr>
            <a:spLocks noGrp="1"/>
          </p:cNvSpPr>
          <p:nvPr/>
        </p:nvSpPr>
        <p:spPr>
          <a:xfrm>
            <a:off x="1066800" y="6457950"/>
            <a:ext cx="14478000" cy="514350"/>
          </a:xfrm>
          <a:prstGeom prst="rect">
            <a:avLst/>
          </a:prstGeom>
        </p:spPr>
        <p:txBody>
          <a:bodyPr lIns="0" tIns="0" rIns="0" bIns="0"/>
          <a:lstStyle/>
          <a:p>
            <a:pPr>
              <a:defRPr sz="1650">
                <a:solidFill>
                  <a:srgbClr val="415A77"/>
                </a:solidFill>
              </a:defRPr>
            </a:pPr>
            <a:r>
              <a:rPr sz="1650">
                <a:solidFill>
                  <a:srgbClr val="415A77"/>
                </a:solidFill>
              </a:rPr>
              <a:t>It helps an operator move from “where is the problem now?” to “where is it forming next?” to “is this tract drifting, persisting, or tipping?” The Hamlin Park example is the clearest proof that the forecast views are not just parallel visuals. They can surface actionable risk before the current hotspot list fully catches up.</a:t>
            </a:r>
          </a:p>
        </p:txBody>
      </p:sp>
      <p:sp>
        <p:nvSpPr>
          <p:cNvPr id="23" name="footer">
            <a:extLst>
              <a:ext uri="{FF2B5EF4-FFF2-40B4-BE49-F238E27FC236}">
                <a16:creationId xmlns:a16="http://schemas.microsoft.com/office/drawing/2014/main" id="{42F61186-7585-4304-ABA1-D0DCBBC47F01}"/>
              </a:ext>
            </a:extLst>
          </p:cNvPr>
          <p:cNvSpPr>
            <a:spLocks noGrp="1"/>
          </p:cNvSpPr>
          <p:nvPr/>
        </p:nvSpPr>
        <p:spPr>
          <a:xfrm>
            <a:off x="800100" y="7524750"/>
            <a:ext cx="16687800" cy="152400"/>
          </a:xfrm>
          <a:prstGeom prst="rect">
            <a:avLst/>
          </a:prstGeom>
        </p:spPr>
        <p:txBody>
          <a:bodyPr lIns="0" tIns="0" rIns="0" bIns="0"/>
          <a:lstStyle/>
          <a:p>
            <a:pPr>
              <a:defRPr sz="900">
                <a:solidFill>
                  <a:srgbClr val="66778A"/>
                </a:solidFill>
              </a:defRPr>
            </a:pPr>
            <a:r>
              <a:rPr sz="900">
                <a:solidFill>
                  <a:srgbClr val="66778A"/>
                </a:solidFill>
              </a:rPr>
              <a:t>Walk-through built from live app outputs and analytics tables in the Buffalo Housing Instability Intelligence Platform.</a:t>
            </a:r>
          </a:p>
        </p:txBody>
      </p:sp>
    </p:spTree>
    <p:extLst>
      <p:ext uri="{BB962C8B-B14F-4D97-AF65-F5344CB8AC3E}">
        <p14:creationId xmlns:p14="http://schemas.microsoft.com/office/powerpoint/2010/main" val="36298744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1365</Words>
  <Application>Microsoft Office PowerPoint</Application>
  <DocSecurity>0</DocSecurity>
  <PresentationFormat>Custom</PresentationFormat>
  <Paragraphs>109</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Somma, Matthew J</cp:lastModifiedBy>
  <cp:revision>1</cp:revision>
  <dcterms:created xsi:type="dcterms:W3CDTF">2026-05-18T17:48:27Z</dcterms:created>
  <dcterms:modified xsi:type="dcterms:W3CDTF">2026-05-18T19:58:09Z</dcterms:modified>
</cp:coreProperties>
</file>